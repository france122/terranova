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91" d="100"/>
          <a:sy n="91" d="100"/>
        </p:scale>
        <p:origin x="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3F720A48-1F19-4069-8619-36FC65CA8261}"/>
              </a:ext>
            </a:extLst>
          </p:cNvPr>
          <p:cNvSpPr/>
          <p:nvPr userDrawn="1"/>
        </p:nvSpPr>
        <p:spPr>
          <a:xfrm>
            <a:off x="2107870" y="569837"/>
            <a:ext cx="9696202" cy="1947146"/>
          </a:xfrm>
          <a:prstGeom prst="roundRect">
            <a:avLst>
              <a:gd name="adj" fmla="val 5089"/>
            </a:avLst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02876" tIns="125730" rIns="125731" bIns="125730" numCol="1" spcCol="1270" anchor="t" anchorCtr="0">
            <a:noAutofit/>
          </a:bodyPr>
          <a:lstStyle/>
          <a:p>
            <a:pPr marL="0" lvl="1" defTabSz="11557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0083E24-6FA5-4A3C-A0CA-A32417B75514}"/>
              </a:ext>
            </a:extLst>
          </p:cNvPr>
          <p:cNvSpPr/>
          <p:nvPr userDrawn="1"/>
        </p:nvSpPr>
        <p:spPr>
          <a:xfrm>
            <a:off x="2107870" y="2621592"/>
            <a:ext cx="9696202" cy="1947146"/>
          </a:xfrm>
          <a:prstGeom prst="roundRect">
            <a:avLst>
              <a:gd name="adj" fmla="val 4596"/>
            </a:avLst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02876" tIns="125730" rIns="125731" bIns="125730" numCol="1" spcCol="1270" anchor="t" anchorCtr="0">
            <a:noAutofit/>
          </a:bodyPr>
          <a:lstStyle/>
          <a:p>
            <a:pPr lvl="1" indent="-457200" defTabSz="11557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Wingdings" panose="05000000000000000000" pitchFamily="2" charset="2"/>
              <a:buChar char="þ"/>
            </a:pP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192B23B-AAC4-400E-9E0A-7B3D1400E969}"/>
              </a:ext>
            </a:extLst>
          </p:cNvPr>
          <p:cNvSpPr/>
          <p:nvPr userDrawn="1"/>
        </p:nvSpPr>
        <p:spPr>
          <a:xfrm>
            <a:off x="2107870" y="4673348"/>
            <a:ext cx="9696202" cy="1947146"/>
          </a:xfrm>
          <a:prstGeom prst="roundRect">
            <a:avLst>
              <a:gd name="adj" fmla="val 4596"/>
            </a:avLst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02876" tIns="125730" rIns="125731" bIns="125730" numCol="1" spcCol="1270" anchor="t" anchorCtr="0">
            <a:noAutofit/>
          </a:bodyPr>
          <a:lstStyle/>
          <a:p>
            <a:pPr lvl="1" indent="-457200" defTabSz="11557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Wingdings" panose="05000000000000000000" pitchFamily="2" charset="2"/>
              <a:buChar char="þ"/>
            </a:pPr>
            <a:endParaRPr lang="zh-CN" altLang="en-US" sz="2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CEB30F3-F63E-4754-92EA-F19A79A894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74" y="930448"/>
            <a:ext cx="741397" cy="74139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AA868F2-1866-47DC-860E-6EEC76063A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84" y="5043155"/>
            <a:ext cx="698472" cy="576371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5648BC2C-0CD2-48E5-B5A1-D7F663A87987}"/>
              </a:ext>
            </a:extLst>
          </p:cNvPr>
          <p:cNvSpPr/>
          <p:nvPr userDrawn="1"/>
        </p:nvSpPr>
        <p:spPr>
          <a:xfrm>
            <a:off x="412661" y="1655666"/>
            <a:ext cx="1800493" cy="7063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r" defTabSz="11557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问题的背景或场景、</a:t>
            </a:r>
            <a:br>
              <a:rPr lang="en-US" altLang="zh-CN" sz="1400" dirty="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dirty="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待要解决的问题、</a:t>
            </a:r>
            <a:endParaRPr lang="en-US" altLang="zh-CN" sz="1400" dirty="0">
              <a:solidFill>
                <a:schemeClr val="tx1">
                  <a:lumMod val="65000"/>
                  <a:lumOff val="35000"/>
                  <a:alpha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r" defTabSz="11557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期望达成的目标等。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E2D158C-8984-4C7F-A698-4F03653CE920}"/>
              </a:ext>
            </a:extLst>
          </p:cNvPr>
          <p:cNvSpPr/>
          <p:nvPr userDrawn="1"/>
        </p:nvSpPr>
        <p:spPr>
          <a:xfrm>
            <a:off x="233125" y="3663953"/>
            <a:ext cx="1980029" cy="7063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r" defTabSz="11557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400" kern="1200" dirty="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创想中的新意和思路、</a:t>
            </a:r>
            <a:br>
              <a:rPr lang="en-US" altLang="zh-CN" sz="1400" kern="1200" dirty="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lang="zh-CN" altLang="en-US" sz="1400" kern="1200" dirty="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大致的的实现方案、</a:t>
            </a:r>
            <a:endParaRPr lang="en-US" altLang="zh-CN" sz="1400" kern="1200" dirty="0">
              <a:solidFill>
                <a:schemeClr val="tx1">
                  <a:lumMod val="65000"/>
                  <a:lumOff val="35000"/>
                  <a:alpha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1" algn="r" defTabSz="11557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400" kern="1200" dirty="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重点和关键技术。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1E91D7C-873C-497A-9341-EEF3658720AF}"/>
              </a:ext>
            </a:extLst>
          </p:cNvPr>
          <p:cNvSpPr/>
          <p:nvPr userDrawn="1"/>
        </p:nvSpPr>
        <p:spPr>
          <a:xfrm>
            <a:off x="250938" y="5698444"/>
            <a:ext cx="1980029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r" defTabSz="11557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400" kern="1200" dirty="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创想中待解决的问题、</a:t>
            </a:r>
            <a:endParaRPr lang="en-US" altLang="zh-CN" sz="1400" kern="1200" dirty="0">
              <a:solidFill>
                <a:schemeClr val="tx1">
                  <a:lumMod val="65000"/>
                  <a:lumOff val="35000"/>
                  <a:alpha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1" algn="r" defTabSz="11557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400" kern="1200" dirty="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未知和不确定之处、</a:t>
            </a:r>
            <a:endParaRPr lang="en-US" altLang="zh-CN" sz="1400" kern="1200" dirty="0">
              <a:solidFill>
                <a:schemeClr val="tx1">
                  <a:lumMod val="65000"/>
                  <a:lumOff val="35000"/>
                  <a:alpha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1" algn="r" defTabSz="11557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400" kern="1200" dirty="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潜在的风险。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8E91762-B4B9-AF33-D340-54E5FF6C4410}"/>
              </a:ext>
            </a:extLst>
          </p:cNvPr>
          <p:cNvSpPr txBox="1"/>
          <p:nvPr userDrawn="1"/>
        </p:nvSpPr>
        <p:spPr>
          <a:xfrm>
            <a:off x="1144257" y="113888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4D6939-F7F1-337B-62FC-CB41EE2C67D3}"/>
              </a:ext>
            </a:extLst>
          </p:cNvPr>
          <p:cNvSpPr txBox="1"/>
          <p:nvPr userDrawn="1"/>
        </p:nvSpPr>
        <p:spPr>
          <a:xfrm>
            <a:off x="1144257" y="317647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FB4068-29CE-FBC9-1A0D-40C77EDCFF6F}"/>
              </a:ext>
            </a:extLst>
          </p:cNvPr>
          <p:cNvSpPr txBox="1"/>
          <p:nvPr userDrawn="1"/>
        </p:nvSpPr>
        <p:spPr>
          <a:xfrm>
            <a:off x="1144257" y="520233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难点</a:t>
            </a:r>
          </a:p>
        </p:txBody>
      </p:sp>
      <p:pic>
        <p:nvPicPr>
          <p:cNvPr id="1026" name="Picture 2" descr="Creative design Meticulous Line icon">
            <a:extLst>
              <a:ext uri="{FF2B5EF4-FFF2-40B4-BE49-F238E27FC236}">
                <a16:creationId xmlns:a16="http://schemas.microsoft.com/office/drawing/2014/main" id="{5060102E-BFE2-8DC9-E95B-9373702995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10" y="2980707"/>
            <a:ext cx="623128" cy="62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D48E285-338C-E188-BEE6-632709B4C1B1}"/>
              </a:ext>
            </a:extLst>
          </p:cNvPr>
          <p:cNvCxnSpPr>
            <a:cxnSpLocks/>
          </p:cNvCxnSpPr>
          <p:nvPr userDrawn="1"/>
        </p:nvCxnSpPr>
        <p:spPr>
          <a:xfrm>
            <a:off x="439386" y="575955"/>
            <a:ext cx="1567543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014E0F8C-CA5D-88C2-87B0-BA63F2240C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12975" y="636588"/>
            <a:ext cx="9494838" cy="1846262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l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47675" indent="-228600">
              <a:buFont typeface="Webdings" panose="05030102010509060703" pitchFamily="18" charset="2"/>
              <a:buChar char="4"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10" name="文本占位符 7">
            <a:extLst>
              <a:ext uri="{FF2B5EF4-FFF2-40B4-BE49-F238E27FC236}">
                <a16:creationId xmlns:a16="http://schemas.microsoft.com/office/drawing/2014/main" id="{2AA55AA1-EA2F-A7E2-CFE6-38E7E9E4C8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12975" y="2679471"/>
            <a:ext cx="9494838" cy="1846262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l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47675" indent="-228600">
              <a:buFont typeface="Webdings" panose="05030102010509060703" pitchFamily="18" charset="2"/>
              <a:buChar char="4"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12" name="文本占位符 7">
            <a:extLst>
              <a:ext uri="{FF2B5EF4-FFF2-40B4-BE49-F238E27FC236}">
                <a16:creationId xmlns:a16="http://schemas.microsoft.com/office/drawing/2014/main" id="{659989D0-5184-01BA-2541-EAF9FC6398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12975" y="4723790"/>
            <a:ext cx="9494838" cy="1846262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l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47675" indent="-228600">
              <a:buFont typeface="Webdings" panose="05030102010509060703" pitchFamily="18" charset="2"/>
              <a:buChar char="4"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13" name="文本占位符 7">
            <a:extLst>
              <a:ext uri="{FF2B5EF4-FFF2-40B4-BE49-F238E27FC236}">
                <a16:creationId xmlns:a16="http://schemas.microsoft.com/office/drawing/2014/main" id="{104CE3C4-4C90-94F2-59A0-74CFC3C8BE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0659" y="189621"/>
            <a:ext cx="1666271" cy="368044"/>
          </a:xfrm>
        </p:spPr>
        <p:txBody>
          <a:bodyPr>
            <a:normAutofit/>
          </a:bodyPr>
          <a:lstStyle>
            <a:lvl1pPr marL="0" indent="0" algn="ctr">
              <a:buFont typeface="Wingdings" panose="05000000000000000000" pitchFamily="2" charset="2"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47675" indent="-228600">
              <a:buFont typeface="Webdings" panose="05030102010509060703" pitchFamily="18" charset="2"/>
              <a:buChar char="4"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0F9DABD-63FD-806F-9BB6-BD3ECD86EC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30438" y="188913"/>
            <a:ext cx="9477375" cy="410390"/>
          </a:xfrm>
        </p:spPr>
        <p:txBody>
          <a:bodyPr vert="horz" wrap="none" lIns="91440" tIns="45720" rIns="91440" bIns="45720" rtlCol="0">
            <a:noAutofit/>
          </a:bodyPr>
          <a:lstStyle>
            <a:lvl1pPr algn="l">
              <a:defRPr lang="zh-CN" altLang="en-US" sz="2000" smtClean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lang="zh-CN" altLang="en-US" sz="1800" smtClean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lang="zh-CN" altLang="en-US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indent="0" algn="ctr">
              <a:buFont typeface="Wingdings" panose="05000000000000000000" pitchFamily="2" charset="2"/>
              <a:buNone/>
            </a:pPr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4668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1912F5-7783-4F49-A7F5-BB77B5265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B31A00-D001-4652-A371-20CFDA420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16D4A4-525C-4526-81F2-B0D7F96156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E75EA-3759-4E22-A371-A90048ADE31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6B4DAD-92A1-4886-ACF0-B70A414C3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4904DC-0AE9-4B88-8D76-2C44A0109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CB042-952F-4666-830C-8AB824BF41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32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B9DBD85-8009-13B9-EB44-FC0F4671AF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12975" y="713368"/>
            <a:ext cx="9494838" cy="1846262"/>
          </a:xfrm>
        </p:spPr>
        <p:txBody>
          <a:bodyPr>
            <a:no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</a:rPr>
              <a:t>信息过载与地缘风险传导滞后：半导体产业链高度全球化且层级复杂（设计→制造→封测→设备→材料），当突发事件（如光刻机出口管制、日本光刻胶断供）发生时，对下游芯片厂、终端电子产品的影响具有复杂的传导性。传统人工分析依赖分析师经验，耗时且容易遗漏隐性关联，难以实现秒级风险预警。</a:t>
            </a:r>
            <a:endParaRPr lang="en-US" altLang="zh-CN" sz="1200" dirty="0">
              <a:solidFill>
                <a:srgbClr val="0070C0"/>
              </a:solidFill>
            </a:endParaRPr>
          </a:p>
          <a:p>
            <a:r>
              <a:rPr lang="zh-CN" altLang="en-US" sz="1200" dirty="0">
                <a:solidFill>
                  <a:srgbClr val="0070C0"/>
                </a:solidFill>
              </a:rPr>
              <a:t>通用大模型缺乏行业常识：现有的通用</a:t>
            </a:r>
            <a:r>
              <a:rPr lang="en-US" altLang="zh-CN" sz="1200" dirty="0">
                <a:solidFill>
                  <a:srgbClr val="0070C0"/>
                </a:solidFill>
              </a:rPr>
              <a:t>AI</a:t>
            </a:r>
            <a:r>
              <a:rPr lang="zh-CN" altLang="en-US" sz="1200" dirty="0">
                <a:solidFill>
                  <a:srgbClr val="0070C0"/>
                </a:solidFill>
              </a:rPr>
              <a:t>虽然能处理文本，但缺乏半导体领域的结构化知识（</a:t>
            </a:r>
            <a:r>
              <a:rPr lang="en-US" altLang="zh-CN" sz="1200" dirty="0">
                <a:solidFill>
                  <a:srgbClr val="0070C0"/>
                </a:solidFill>
              </a:rPr>
              <a:t>Knowledge Graph</a:t>
            </a:r>
            <a:r>
              <a:rPr lang="zh-CN" altLang="en-US" sz="1200" dirty="0">
                <a:solidFill>
                  <a:srgbClr val="0070C0"/>
                </a:solidFill>
              </a:rPr>
              <a:t>）。当被问及</a:t>
            </a:r>
            <a:r>
              <a:rPr lang="en-US" altLang="zh-CN" sz="1200" dirty="0">
                <a:solidFill>
                  <a:srgbClr val="0070C0"/>
                </a:solidFill>
              </a:rPr>
              <a:t>"</a:t>
            </a:r>
            <a:r>
              <a:rPr lang="zh-CN" altLang="en-US" sz="1200" dirty="0">
                <a:solidFill>
                  <a:srgbClr val="0070C0"/>
                </a:solidFill>
              </a:rPr>
              <a:t>某</a:t>
            </a:r>
            <a:r>
              <a:rPr lang="en-US" altLang="zh-CN" sz="1200" dirty="0">
                <a:solidFill>
                  <a:srgbClr val="0070C0"/>
                </a:solidFill>
              </a:rPr>
              <a:t>EDA</a:t>
            </a:r>
            <a:r>
              <a:rPr lang="zh-CN" altLang="en-US" sz="1200" dirty="0">
                <a:solidFill>
                  <a:srgbClr val="0070C0"/>
                </a:solidFill>
              </a:rPr>
              <a:t>软件断供对哪些国产芯片设计公司影响最大</a:t>
            </a:r>
            <a:r>
              <a:rPr lang="en-US" altLang="zh-CN" sz="1200" dirty="0">
                <a:solidFill>
                  <a:srgbClr val="0070C0"/>
                </a:solidFill>
              </a:rPr>
              <a:t>"</a:t>
            </a:r>
            <a:r>
              <a:rPr lang="zh-CN" altLang="en-US" sz="1200" dirty="0">
                <a:solidFill>
                  <a:srgbClr val="0070C0"/>
                </a:solidFill>
              </a:rPr>
              <a:t>时，往往因无法检索到具体的技术依赖关系而产生幻觉</a:t>
            </a:r>
            <a:r>
              <a:rPr lang="en-US" altLang="zh-CN" sz="1200" dirty="0">
                <a:solidFill>
                  <a:srgbClr val="0070C0"/>
                </a:solidFill>
              </a:rPr>
              <a:t>"</a:t>
            </a:r>
            <a:r>
              <a:rPr lang="zh-CN" altLang="en-US" sz="1200" dirty="0">
                <a:solidFill>
                  <a:srgbClr val="0070C0"/>
                </a:solidFill>
              </a:rPr>
              <a:t>或给出笼统的无效回答。</a:t>
            </a:r>
          </a:p>
          <a:p>
            <a:r>
              <a:rPr lang="zh-CN" altLang="en-US" sz="1200" dirty="0">
                <a:solidFill>
                  <a:srgbClr val="0070C0"/>
                </a:solidFill>
              </a:rPr>
              <a:t>目标是构建一个基于动态知识图谱的智能分析系统，将非结构化的政策新闻、行业资讯转化为结构化的风险传导路径，实现“事件驱动”的半导体产业链精准推理。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5624E822-93A9-B512-4057-6424F19B8A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12975" y="2749271"/>
            <a:ext cx="9494838" cy="1846262"/>
          </a:xfrm>
        </p:spPr>
        <p:txBody>
          <a:bodyPr>
            <a:noAutofit/>
          </a:bodyPr>
          <a:lstStyle/>
          <a:p>
            <a:r>
              <a:rPr lang="en-US" altLang="zh-CN" sz="1200" dirty="0">
                <a:solidFill>
                  <a:srgbClr val="0070C0"/>
                </a:solidFill>
              </a:rPr>
              <a:t>1.</a:t>
            </a:r>
            <a:r>
              <a:rPr lang="zh-CN" altLang="en-US" sz="1200" dirty="0">
                <a:solidFill>
                  <a:srgbClr val="0070C0"/>
                </a:solidFill>
              </a:rPr>
              <a:t>构建产业链地图：以半导体行业为切入点，利用图数据库（</a:t>
            </a:r>
            <a:r>
              <a:rPr lang="en-US" altLang="zh-CN" sz="1200" dirty="0">
                <a:solidFill>
                  <a:srgbClr val="0070C0"/>
                </a:solidFill>
              </a:rPr>
              <a:t>Neo4j</a:t>
            </a:r>
            <a:r>
              <a:rPr lang="zh-CN" altLang="en-US" sz="1200" dirty="0">
                <a:solidFill>
                  <a:srgbClr val="0070C0"/>
                </a:solidFill>
              </a:rPr>
              <a:t>）构建包含上游设备材料（</a:t>
            </a:r>
            <a:r>
              <a:rPr lang="en-US" altLang="zh-CN" sz="1200" dirty="0">
                <a:solidFill>
                  <a:srgbClr val="0070C0"/>
                </a:solidFill>
              </a:rPr>
              <a:t>ASML</a:t>
            </a:r>
            <a:r>
              <a:rPr lang="zh-CN" altLang="en-US" sz="1200" dirty="0">
                <a:solidFill>
                  <a:srgbClr val="0070C0"/>
                </a:solidFill>
              </a:rPr>
              <a:t>、应用材料 ）、中游晶圆代工（台积电、中芯国际）、下游芯片设计（英伟达、高通、海思）及终端应用的供应链知识图谱。</a:t>
            </a:r>
          </a:p>
          <a:p>
            <a:r>
              <a:rPr lang="en-US" altLang="zh-CN" sz="1200" dirty="0">
                <a:solidFill>
                  <a:srgbClr val="0070C0"/>
                </a:solidFill>
              </a:rPr>
              <a:t>2.</a:t>
            </a:r>
            <a:r>
              <a:rPr lang="zh-CN" altLang="en-US" sz="1200" dirty="0">
                <a:solidFill>
                  <a:srgbClr val="0070C0"/>
                </a:solidFill>
              </a:rPr>
              <a:t>事件驱动推理：通过</a:t>
            </a:r>
            <a:r>
              <a:rPr lang="en-US" altLang="zh-CN" sz="1200" dirty="0">
                <a:solidFill>
                  <a:srgbClr val="0070C0"/>
                </a:solidFill>
              </a:rPr>
              <a:t>NLP</a:t>
            </a:r>
            <a:r>
              <a:rPr lang="zh-CN" altLang="en-US" sz="1200" dirty="0">
                <a:solidFill>
                  <a:srgbClr val="0070C0"/>
                </a:solidFill>
              </a:rPr>
              <a:t>技术实时监测政策新闻与行业动态，提取关键实体（如“</a:t>
            </a:r>
            <a:r>
              <a:rPr lang="en-US" altLang="zh-CN" sz="1200" dirty="0">
                <a:solidFill>
                  <a:srgbClr val="0070C0"/>
                </a:solidFill>
              </a:rPr>
              <a:t>EUV</a:t>
            </a:r>
            <a:r>
              <a:rPr lang="zh-CN" altLang="en-US" sz="1200" dirty="0">
                <a:solidFill>
                  <a:srgbClr val="0070C0"/>
                </a:solidFill>
              </a:rPr>
              <a:t>光刻机”），在图谱中定位节点，并沿供应链路径向下游遍历，自动推演受影响的关联企业。</a:t>
            </a:r>
            <a:endParaRPr lang="en-US" altLang="zh-CN" sz="1200" dirty="0">
              <a:solidFill>
                <a:srgbClr val="0070C0"/>
              </a:solidFill>
            </a:endParaRPr>
          </a:p>
          <a:p>
            <a:r>
              <a:rPr lang="en-US" altLang="zh-CN" sz="1200" dirty="0">
                <a:solidFill>
                  <a:srgbClr val="0070C0"/>
                </a:solidFill>
              </a:rPr>
              <a:t>3. </a:t>
            </a:r>
            <a:r>
              <a:rPr lang="zh-CN" altLang="en-US" sz="1200" dirty="0">
                <a:solidFill>
                  <a:srgbClr val="0070C0"/>
                </a:solidFill>
              </a:rPr>
              <a:t>大模型生成报告：将图谱检索到的</a:t>
            </a:r>
            <a:r>
              <a:rPr lang="en-US" altLang="zh-CN" sz="1200" dirty="0">
                <a:solidFill>
                  <a:srgbClr val="0070C0"/>
                </a:solidFill>
              </a:rPr>
              <a:t>"</a:t>
            </a:r>
            <a:r>
              <a:rPr lang="zh-CN" altLang="en-US" sz="1200" dirty="0">
                <a:solidFill>
                  <a:srgbClr val="0070C0"/>
                </a:solidFill>
              </a:rPr>
              <a:t>推理路径</a:t>
            </a:r>
            <a:r>
              <a:rPr lang="en-US" altLang="zh-CN" sz="1200" dirty="0">
                <a:solidFill>
                  <a:srgbClr val="0070C0"/>
                </a:solidFill>
              </a:rPr>
              <a:t>"</a:t>
            </a:r>
            <a:r>
              <a:rPr lang="zh-CN" altLang="en-US" sz="1200" dirty="0">
                <a:solidFill>
                  <a:srgbClr val="0070C0"/>
                </a:solidFill>
              </a:rPr>
              <a:t>（例如：</a:t>
            </a:r>
            <a:r>
              <a:rPr lang="en-US" altLang="zh-CN" sz="1200" dirty="0">
                <a:solidFill>
                  <a:srgbClr val="0070C0"/>
                </a:solidFill>
              </a:rPr>
              <a:t>ASML</a:t>
            </a:r>
            <a:r>
              <a:rPr lang="zh-CN" altLang="en-US" sz="1200" dirty="0">
                <a:solidFill>
                  <a:srgbClr val="0070C0"/>
                </a:solidFill>
              </a:rPr>
              <a:t>设备管制 → 先进制程产能 → </a:t>
            </a:r>
            <a:r>
              <a:rPr lang="en-US" altLang="zh-CN" sz="1200" dirty="0">
                <a:solidFill>
                  <a:srgbClr val="0070C0"/>
                </a:solidFill>
              </a:rPr>
              <a:t>AI</a:t>
            </a:r>
            <a:r>
              <a:rPr lang="zh-CN" altLang="en-US" sz="1200" dirty="0">
                <a:solidFill>
                  <a:srgbClr val="0070C0"/>
                </a:solidFill>
              </a:rPr>
              <a:t>芯片供应 → 云计算厂商成本）作为上下文投喂给大模型，引导其生成有理有据的风险分析报告。</a:t>
            </a:r>
          </a:p>
          <a:p>
            <a:r>
              <a:rPr lang="zh-CN" altLang="en-US" sz="1200" dirty="0">
                <a:solidFill>
                  <a:srgbClr val="0070C0"/>
                </a:solidFill>
              </a:rPr>
              <a:t>关键技术：</a:t>
            </a:r>
            <a:r>
              <a:rPr lang="en-US" altLang="zh-CN" sz="1200" dirty="0">
                <a:solidFill>
                  <a:srgbClr val="0070C0"/>
                </a:solidFill>
              </a:rPr>
              <a:t>Neo4j</a:t>
            </a:r>
            <a:r>
              <a:rPr lang="zh-CN" altLang="en-US" sz="1200" dirty="0">
                <a:solidFill>
                  <a:srgbClr val="0070C0"/>
                </a:solidFill>
              </a:rPr>
              <a:t>、</a:t>
            </a:r>
            <a:r>
              <a:rPr lang="en-US" altLang="zh-CN" sz="1200" dirty="0" err="1">
                <a:solidFill>
                  <a:srgbClr val="0070C0"/>
                </a:solidFill>
              </a:rPr>
              <a:t>LangChain</a:t>
            </a:r>
            <a:r>
              <a:rPr lang="zh-CN" altLang="en-US" sz="1200" dirty="0">
                <a:solidFill>
                  <a:srgbClr val="0070C0"/>
                </a:solidFill>
              </a:rPr>
              <a:t>、</a:t>
            </a:r>
            <a:r>
              <a:rPr lang="en-US" altLang="zh-CN" sz="1200" dirty="0">
                <a:solidFill>
                  <a:srgbClr val="0070C0"/>
                </a:solidFill>
              </a:rPr>
              <a:t>Prompt engineering</a:t>
            </a:r>
            <a:endParaRPr lang="zh-CN" altLang="en-US" sz="1200" dirty="0">
              <a:solidFill>
                <a:srgbClr val="0070C0"/>
              </a:solidFill>
            </a:endParaRP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EE25E7BD-DDF1-DCC0-DA6C-35FF92C4D3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12975" y="4997789"/>
            <a:ext cx="9494838" cy="1423952"/>
          </a:xfrm>
        </p:spPr>
        <p:txBody>
          <a:bodyPr>
            <a:norm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</a:rPr>
              <a:t>知识图谱的动态更新：半导体供应链关系变化频繁（国产替代加速、新技术路线出现）。如何利用</a:t>
            </a:r>
            <a:r>
              <a:rPr lang="en-US" altLang="zh-CN" sz="1200" dirty="0">
                <a:solidFill>
                  <a:srgbClr val="0070C0"/>
                </a:solidFill>
              </a:rPr>
              <a:t>AI</a:t>
            </a:r>
            <a:r>
              <a:rPr lang="zh-CN" altLang="en-US" sz="1200" dirty="0">
                <a:solidFill>
                  <a:srgbClr val="0070C0"/>
                </a:solidFill>
              </a:rPr>
              <a:t>自动从海量研报、招股书中抽取新的供应关系并更新图谱，保持时效性，是本项目的最大挑战。。</a:t>
            </a:r>
          </a:p>
          <a:p>
            <a:r>
              <a:rPr lang="zh-CN" altLang="en-US" sz="1200" dirty="0">
                <a:solidFill>
                  <a:srgbClr val="0070C0"/>
                </a:solidFill>
              </a:rPr>
              <a:t>多跳推理的噪声控制：随着产业链传导层级增加（材料→设备→制造→设计→终端），无效信息会被放大。如何设计算法筛选出真正有价值的传导路径（区分</a:t>
            </a:r>
            <a:r>
              <a:rPr lang="en-US" altLang="zh-CN" sz="1200" dirty="0">
                <a:solidFill>
                  <a:srgbClr val="0070C0"/>
                </a:solidFill>
              </a:rPr>
              <a:t>"</a:t>
            </a:r>
            <a:r>
              <a:rPr lang="zh-CN" altLang="en-US" sz="1200" dirty="0">
                <a:solidFill>
                  <a:srgbClr val="0070C0"/>
                </a:solidFill>
              </a:rPr>
              <a:t>强依赖</a:t>
            </a:r>
            <a:r>
              <a:rPr lang="en-US" altLang="zh-CN" sz="1200" dirty="0">
                <a:solidFill>
                  <a:srgbClr val="0070C0"/>
                </a:solidFill>
              </a:rPr>
              <a:t>"</a:t>
            </a:r>
            <a:r>
              <a:rPr lang="zh-CN" altLang="en-US" sz="1200" dirty="0">
                <a:solidFill>
                  <a:srgbClr val="0070C0"/>
                </a:solidFill>
              </a:rPr>
              <a:t>与</a:t>
            </a:r>
            <a:r>
              <a:rPr lang="en-US" altLang="zh-CN" sz="1200" dirty="0">
                <a:solidFill>
                  <a:srgbClr val="0070C0"/>
                </a:solidFill>
              </a:rPr>
              <a:t>"</a:t>
            </a:r>
            <a:r>
              <a:rPr lang="zh-CN" altLang="en-US" sz="1200" dirty="0">
                <a:solidFill>
                  <a:srgbClr val="0070C0"/>
                </a:solidFill>
              </a:rPr>
              <a:t>弱关联</a:t>
            </a:r>
            <a:r>
              <a:rPr lang="en-US" altLang="zh-CN" sz="1200" dirty="0">
                <a:solidFill>
                  <a:srgbClr val="0070C0"/>
                </a:solidFill>
              </a:rPr>
              <a:t>"</a:t>
            </a:r>
            <a:r>
              <a:rPr lang="zh-CN" altLang="en-US" sz="1200" dirty="0">
                <a:solidFill>
                  <a:srgbClr val="0070C0"/>
                </a:solidFill>
              </a:rPr>
              <a:t>），避免系统发出误报，需要反复调优。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B8DC21D-3EEB-29B5-A91A-48C412DEC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张媛珍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1E4D5D54-2211-B53B-9557-E34D3B8405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altLang="zh-CN" dirty="0" err="1">
                <a:solidFill>
                  <a:srgbClr val="0070C0"/>
                </a:solidFill>
              </a:rPr>
              <a:t>ChipWhisper</a:t>
            </a:r>
            <a:r>
              <a:rPr lang="zh-CN" altLang="en-US" dirty="0">
                <a:solidFill>
                  <a:srgbClr val="0070C0"/>
                </a:solidFill>
              </a:rPr>
              <a:t>（芯语）</a:t>
            </a:r>
            <a:r>
              <a:rPr lang="en-US" altLang="zh-CN" dirty="0">
                <a:solidFill>
                  <a:srgbClr val="0070C0"/>
                </a:solidFill>
              </a:rPr>
              <a:t>—</a:t>
            </a:r>
            <a:r>
              <a:rPr lang="zh-CN" altLang="en-US" dirty="0">
                <a:solidFill>
                  <a:srgbClr val="0070C0"/>
                </a:solidFill>
              </a:rPr>
              <a:t>用</a:t>
            </a:r>
            <a:r>
              <a:rPr lang="en-US" altLang="zh-CN">
                <a:solidFill>
                  <a:srgbClr val="0070C0"/>
                </a:solidFill>
              </a:rPr>
              <a:t>AI</a:t>
            </a:r>
            <a:r>
              <a:rPr lang="zh-CN" altLang="en-US">
                <a:solidFill>
                  <a:srgbClr val="0070C0"/>
                </a:solidFill>
              </a:rPr>
              <a:t>技术</a:t>
            </a:r>
            <a:r>
              <a:rPr lang="zh-CN" altLang="en-US" dirty="0">
                <a:solidFill>
                  <a:srgbClr val="0070C0"/>
                </a:solidFill>
              </a:rPr>
              <a:t>倾听半导体供应链的每一次波动</a:t>
            </a:r>
          </a:p>
        </p:txBody>
      </p:sp>
    </p:spTree>
    <p:extLst>
      <p:ext uri="{BB962C8B-B14F-4D97-AF65-F5344CB8AC3E}">
        <p14:creationId xmlns:p14="http://schemas.microsoft.com/office/powerpoint/2010/main" val="3137353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1914</TotalTime>
  <Words>504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Webdings</vt:lpstr>
      <vt:lpstr>Wingdings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江</dc:creator>
  <cp:lastModifiedBy>媛珍 张</cp:lastModifiedBy>
  <cp:revision>26</cp:revision>
  <cp:lastPrinted>2024-02-22T04:26:51Z</cp:lastPrinted>
  <dcterms:created xsi:type="dcterms:W3CDTF">2019-02-23T08:51:56Z</dcterms:created>
  <dcterms:modified xsi:type="dcterms:W3CDTF">2026-03-08T12:22:49Z</dcterms:modified>
</cp:coreProperties>
</file>