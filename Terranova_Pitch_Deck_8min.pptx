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C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5C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463040"/>
            <a:ext cx="54864" cy="3657600"/>
          </a:xfrm>
          <a:prstGeom prst="rect">
            <a:avLst/>
          </a:prstGeom>
          <a:solidFill>
            <a:srgbClr val="F5C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0" b="1">
                <a:solidFill>
                  <a:srgbClr val="FFFFFF"/>
                </a:solidFill>
                <a:latin typeface="Helvetica Neue"/>
              </a:defRPr>
            </a:pPr>
            <a:r>
              <a:rPr/>
              <a:t>TERRANOVA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5176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5C818"/>
                </a:solidFill>
                <a:latin typeface="PingFang SC"/>
              </a:defRPr>
            </a:pPr>
            <a:r>
              <a:rPr/>
              <a:t>新  大  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5661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FFD700"/>
                </a:solidFill>
              </a:defRPr>
            </a:pPr>
            <a:r>
              <a:t>如果学习像玩 RPG 一样上瘾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38912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06B6D4"/>
                </a:solidFill>
                <a:latin typeface="PingFang SC"/>
              </a:defRPr>
            </a:pPr>
            <a:r>
              <a:t>让每一位学生都拥有自己的知识大陆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5029200"/>
            <a:ext cx="3200400" cy="18288"/>
          </a:xfrm>
          <a:prstGeom prst="rect">
            <a:avLst/>
          </a:prstGeom>
          <a:solidFill>
            <a:srgbClr val="28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5303520"/>
            <a:ext cx="5486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700"/>
              </a:lnSpc>
              <a:defRPr sz="1500" b="0">
                <a:solidFill>
                  <a:srgbClr val="707088"/>
                </a:solidFill>
                <a:latin typeface="PingFang SC"/>
              </a:defRPr>
            </a:pPr>
            <a:r>
              <a:t>大学生创新创业项目  ·  种子轮路演</a:t>
            </a:r>
          </a:p>
          <a:p>
            <a:pPr algn="l">
              <a:lnSpc>
                <a:spcPts val="2340"/>
              </a:lnSpc>
              <a:defRPr sz="1300" b="0">
                <a:solidFill>
                  <a:srgbClr val="707088"/>
                </a:solidFill>
                <a:latin typeface="PingFang SC"/>
              </a:defRPr>
            </a:pPr>
            <a:r>
              <a:t>2026 年 6 月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0" y="1645920"/>
            <a:ext cx="2743200" cy="2743200"/>
          </a:xfrm>
          <a:prstGeom prst="ellipse">
            <a:avLst/>
          </a:prstGeom>
          <a:solidFill>
            <a:srgbClr val="3B82F6">
              <a:lumMod val="40000"/>
            </a:srgbClr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0" y="3474720"/>
            <a:ext cx="2011680" cy="2011680"/>
          </a:xfrm>
          <a:prstGeom prst="ellipse">
            <a:avLst/>
          </a:prstGeom>
          <a:solidFill>
            <a:srgbClr val="8B5CF6">
              <a:lumMod val="40000"/>
            </a:srgbClr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0" y="4114800"/>
            <a:ext cx="2286000" cy="2286000"/>
          </a:xfrm>
          <a:prstGeom prst="ellipse">
            <a:avLst/>
          </a:prstGeom>
          <a:solidFill>
            <a:srgbClr val="06B6D4">
              <a:lumMod val="40000"/>
            </a:srgbClr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0" y="1371600"/>
            <a:ext cx="1371600" cy="1371600"/>
          </a:xfrm>
          <a:prstGeom prst="ellipse">
            <a:avLst/>
          </a:prstGeom>
          <a:solidFill>
            <a:srgbClr val="10B981">
              <a:lumMod val="40000"/>
            </a:srgbClr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07088"/>
                </a:solidFill>
                <a:latin typeface="PingFang SC"/>
              </a:defRPr>
            </a:pPr>
            <a:r>
              <a:t>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07088"/>
                </a:solidFill>
                <a:latin typeface="PingFang SC"/>
              </a:defRPr>
            </a:pPr>
            <a:r>
              <a:t>2/16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A1A1A"/>
                </a:solidFill>
              </a:defRPr>
            </a:pPr>
            <a:r>
              <a:t>痛点场景：学习路径的迷雾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3946"/>
                </a:solidFill>
              </a:defRPr>
            </a:pPr>
            <a:r>
              <a:t>Without Terranova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300"/>
            </a:pPr>
          </a:p>
          <a:p>
            <a:pPr>
              <a:lnSpc>
                <a:spcPct val="130000"/>
              </a:lnSpc>
              <a:spcBef>
                <a:spcPts val="1000"/>
              </a:spcBef>
              <a:defRPr sz="1300"/>
            </a:pPr>
            <a:r>
              <a:t>👤 大二学生小李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300"/>
            </a:pPr>
            <a:r>
              <a:t>计算机专业，刚学完 C 语言和数据结构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300"/>
            </a:pPr>
          </a:p>
          <a:p>
            <a:pPr>
              <a:lnSpc>
                <a:spcPct val="130000"/>
              </a:lnSpc>
              <a:spcBef>
                <a:spcPts val="1000"/>
              </a:spcBef>
              <a:defRPr sz="1300"/>
            </a:pPr>
            <a:r>
              <a:t>📚 场景：凌晨的宿舍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300"/>
            </a:pPr>
            <a:r>
              <a:t>盯着下学期课表发呆，不知道选什么课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300"/>
            </a:pPr>
          </a:p>
          <a:p>
            <a:pPr>
              <a:lnSpc>
                <a:spcPct val="130000"/>
              </a:lnSpc>
              <a:spcBef>
                <a:spcPts val="1000"/>
              </a:spcBef>
              <a:defRPr sz="1300"/>
            </a:pPr>
            <a:r>
              <a:t>❓ 困惑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300"/>
            </a:pPr>
            <a:r>
              <a:t>操作系统？数据库？计网？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300"/>
            </a:pPr>
            <a:r>
              <a:t>每个学长的建议都不一样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300"/>
            </a:pPr>
          </a:p>
          <a:p>
            <a:pPr>
              <a:lnSpc>
                <a:spcPct val="130000"/>
              </a:lnSpc>
              <a:spcBef>
                <a:spcPts val="1000"/>
              </a:spcBef>
              <a:defRPr sz="1300"/>
            </a:pPr>
            <a:r>
              <a:t>💔 结果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300"/>
            </a:pPr>
            <a:r>
              <a:t>随便选了数据库，听不懂索引原理，期末挂科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300"/>
            </a:pPr>
          </a:p>
          <a:p>
            <a:pPr>
              <a:lnSpc>
                <a:spcPct val="130000"/>
              </a:lnSpc>
              <a:spcBef>
                <a:spcPts val="1000"/>
              </a:spcBef>
              <a:defRPr sz="1300"/>
            </a:pPr>
            <a:r>
              <a:t>⏰ 代价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300"/>
            </a:pPr>
            <a:r>
              <a:t>学期末才发现应该先学数据结构的树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300"/>
            </a:pPr>
            <a:r>
              <a:t>浪费了整整半年时间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这不是一个人的故事</a:t>
            </a:r>
          </a:p>
          <a:p>
            <a:pPr>
              <a:spcBef>
                <a:spcPts val="800"/>
              </a:spcBef>
              <a:defRPr sz="1300"/>
            </a:pPr>
          </a:p>
          <a:p>
            <a:pPr>
              <a:spcBef>
                <a:spcPts val="800"/>
              </a:spcBef>
              <a:defRPr sz="4000" b="1">
                <a:solidFill>
                  <a:srgbClr val="E63946"/>
                </a:solidFill>
              </a:defRPr>
            </a:pPr>
            <a:r>
              <a:t>68%</a:t>
            </a:r>
          </a:p>
          <a:p>
            <a:pPr>
              <a:spcBef>
                <a:spcPts val="800"/>
              </a:spcBef>
              <a:defRPr sz="1300"/>
            </a:pPr>
            <a:r>
              <a:t>的大学生表示</a:t>
            </a:r>
          </a:p>
          <a:p>
            <a:pPr>
              <a:spcBef>
                <a:spcPts val="800"/>
              </a:spcBef>
              <a:defRPr sz="1300"/>
            </a:pPr>
            <a:r>
              <a:t>「不清楚课程间的先后关系」</a:t>
            </a:r>
          </a:p>
          <a:p>
            <a:pPr>
              <a:spcBef>
                <a:spcPts val="800"/>
              </a:spcBef>
              <a:defRPr sz="1300"/>
            </a:pPr>
          </a:p>
          <a:p>
            <a:pPr>
              <a:spcBef>
                <a:spcPts val="800"/>
              </a:spcBef>
              <a:defRPr sz="4000" b="1">
                <a:solidFill>
                  <a:srgbClr val="E63946"/>
                </a:solidFill>
              </a:defRPr>
            </a:pPr>
            <a:r>
              <a:t>54%</a:t>
            </a:r>
          </a:p>
          <a:p>
            <a:pPr>
              <a:spcBef>
                <a:spcPts val="800"/>
              </a:spcBef>
              <a:defRPr sz="1300"/>
            </a:pPr>
            <a:r>
              <a:t>在学期中出现过</a:t>
            </a:r>
          </a:p>
          <a:p>
            <a:pPr>
              <a:spcBef>
                <a:spcPts val="800"/>
              </a:spcBef>
              <a:defRPr sz="1300"/>
            </a:pPr>
            <a:r>
              <a:t>「学不下去的倦怠期」</a:t>
            </a:r>
          </a:p>
          <a:p>
            <a:pPr>
              <a:spcBef>
                <a:spcPts val="800"/>
              </a:spcBef>
              <a:defRPr sz="1300"/>
            </a:pPr>
          </a:p>
          <a:p>
            <a:pPr>
              <a:spcBef>
                <a:spcPts val="800"/>
              </a:spcBef>
              <a:defRPr sz="4000" b="1">
                <a:solidFill>
                  <a:srgbClr val="E63946"/>
                </a:solidFill>
              </a:defRPr>
            </a:pPr>
            <a:r>
              <a:t>71%</a:t>
            </a:r>
          </a:p>
          <a:p>
            <a:pPr>
              <a:spcBef>
                <a:spcPts val="800"/>
              </a:spcBef>
              <a:defRPr sz="1300"/>
            </a:pPr>
            <a:r>
              <a:t>认为最大困扰是</a:t>
            </a:r>
          </a:p>
          <a:p>
            <a:pPr>
              <a:spcBef>
                <a:spcPts val="800"/>
              </a:spcBef>
              <a:defRPr sz="1300"/>
            </a:pPr>
            <a:r>
              <a:t>「跨课程知识串不起来」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607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数据来源：2026年3月校内问卷调研（N=327） + 深度用户访谈（N=20）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5C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400" b="1">
                <a:solidFill>
                  <a:srgbClr val="F5C818"/>
                </a:solidFill>
                <a:latin typeface="PingFang SC"/>
              </a:defRPr>
            </a:pPr>
            <a:r>
              <a:t>目标用户与调研发现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707088"/>
                </a:solidFill>
                <a:latin typeface="PingFang SC"/>
              </a:defRPr>
            </a:pPr>
            <a:r>
              <a:t>基于 300+ 份问卷调研 &amp; 20 场用户深度访谈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07088"/>
                </a:solidFill>
                <a:latin typeface="PingFang SC"/>
              </a:defRPr>
            </a:pPr>
            <a:r>
              <a:t>3/16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PingFang SC"/>
              </a:defRPr>
            </a:pPr>
            <a:r>
              <a:t>核心用户画像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4754880" cy="82296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33172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28600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大一~大三本科生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24328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D0D0D8"/>
                </a:solidFill>
                <a:latin typeface="PingFang SC"/>
              </a:defRPr>
            </a:pPr>
            <a:r>
              <a:t>正在经历课程体系学习的主力人群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4754880" cy="82296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333756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29184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计算机/工科优先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630168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D0D0D8"/>
                </a:solidFill>
                <a:latin typeface="PingFang SC"/>
              </a:defRPr>
            </a:pPr>
            <a:r>
              <a:t>课程依赖关系最复杂，痛感最强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06240"/>
            <a:ext cx="4754880" cy="82296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434340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29768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有一定游戏经历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636008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D0D0D8"/>
                </a:solidFill>
                <a:latin typeface="PingFang SC"/>
              </a:defRPr>
            </a:pPr>
            <a:r>
              <a:t>对游戏化交互不排斥，容易被激励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212080"/>
            <a:ext cx="4754880" cy="82296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534924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30352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对学习效率有追求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641848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D0D0D8"/>
                </a:solidFill>
                <a:latin typeface="PingFang SC"/>
              </a:defRPr>
            </a:pPr>
            <a:r>
              <a:t>愿意尝试新工具，而非被动听课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164592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PingFang SC"/>
              </a:defRPr>
            </a:pPr>
            <a:r>
              <a:t>调研核心发现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2194560"/>
            <a:ext cx="5486400" cy="82296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0" y="2194560"/>
            <a:ext cx="54864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22860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3B82F6"/>
                </a:solidFill>
                <a:latin typeface="PingFang SC"/>
              </a:defRPr>
            </a:pPr>
            <a:r>
              <a:t>痛点 #1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228600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路径迷茫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2633472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0D0D8"/>
                </a:solidFill>
                <a:latin typeface="PingFang SC"/>
              </a:defRPr>
            </a:pPr>
            <a:r>
              <a:t>68% 不知道课程间先后关系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15600" y="2423160"/>
            <a:ext cx="777240" cy="347472"/>
          </a:xfrm>
          <a:prstGeom prst="roundRect">
            <a:avLst>
              <a:gd name="adj" fmla="val 15000"/>
            </a:avLst>
          </a:prstGeom>
          <a:solidFill>
            <a:srgbClr val="3B82F6">
              <a:lumMod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0" y="2450592"/>
            <a:ext cx="777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PingFang SC"/>
              </a:defRPr>
            </a:pPr>
            <a:r>
              <a:t>最高频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0" y="3200400"/>
            <a:ext cx="5486400" cy="82296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43600" y="3200400"/>
            <a:ext cx="54864" cy="8229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329184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8B5CF6"/>
                </a:solidFill>
                <a:latin typeface="PingFang SC"/>
              </a:defRPr>
            </a:pPr>
            <a:r>
              <a:t>痛点 #2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329184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动力缺失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3639312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0D0D8"/>
                </a:solidFill>
                <a:latin typeface="PingFang SC"/>
              </a:defRPr>
            </a:pPr>
            <a:r>
              <a:t>54% 出现过学期中倦怠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515600" y="3429000"/>
            <a:ext cx="777240" cy="347472"/>
          </a:xfrm>
          <a:prstGeom prst="roundRect">
            <a:avLst>
              <a:gd name="adj" fmla="val 15000"/>
            </a:avLst>
          </a:prstGeom>
          <a:solidFill>
            <a:srgbClr val="8B5CF6">
              <a:lumMod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0" y="3456432"/>
            <a:ext cx="777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PingFang SC"/>
              </a:defRPr>
            </a:pPr>
            <a:r>
              <a:t>最致命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0" y="4206240"/>
            <a:ext cx="5486400" cy="82296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43600" y="4206240"/>
            <a:ext cx="54864" cy="8229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29768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97316"/>
                </a:solidFill>
                <a:latin typeface="PingFang SC"/>
              </a:defRPr>
            </a:pPr>
            <a:r>
              <a:t>痛点 #3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429768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知识孤岛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4645152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0D0D8"/>
                </a:solidFill>
                <a:latin typeface="PingFang SC"/>
              </a:defRPr>
            </a:pPr>
            <a:r>
              <a:t>71% 感觉跨课知识串不起来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515600" y="4434840"/>
            <a:ext cx="777240" cy="347472"/>
          </a:xfrm>
          <a:prstGeom prst="roundRect">
            <a:avLst>
              <a:gd name="adj" fmla="val 15000"/>
            </a:avLst>
          </a:prstGeom>
          <a:solidFill>
            <a:srgbClr val="F97316">
              <a:lumMod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15600" y="4462272"/>
            <a:ext cx="777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PingFang SC"/>
              </a:defRPr>
            </a:pPr>
            <a:r>
              <a:t>最根本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43600" y="5212080"/>
            <a:ext cx="5486400" cy="82296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943600" y="5212080"/>
            <a:ext cx="54864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63640" y="5303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0B981"/>
                </a:solidFill>
                <a:latin typeface="PingFang SC"/>
              </a:defRPr>
            </a:pPr>
            <a:r>
              <a:t>验证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0" y="5303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付费意愿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5650992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0D0D8"/>
                </a:solidFill>
                <a:latin typeface="PingFang SC"/>
              </a:defRPr>
            </a:pPr>
            <a:r>
              <a:t>73% 愿意为有效学习工具付费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515600" y="5440680"/>
            <a:ext cx="777240" cy="347472"/>
          </a:xfrm>
          <a:prstGeom prst="roundRect">
            <a:avLst>
              <a:gd name="adj" fmla="val 15000"/>
            </a:avLst>
          </a:prstGeom>
          <a:solidFill>
            <a:srgbClr val="10B981">
              <a:lumMod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15600" y="5468112"/>
            <a:ext cx="777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PingFang SC"/>
              </a:defRPr>
            </a:pPr>
            <a:r>
              <a:t>商业验证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707088"/>
                </a:solidFill>
                <a:latin typeface="PingFang SC"/>
              </a:defRPr>
            </a:pPr>
            <a:r>
              <a:t>数据来源：2026年3月校内问卷调研（N=327） + 深度用户访谈（N=20）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5C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400" b="1">
                <a:solidFill>
                  <a:srgbClr val="F5C818"/>
                </a:solidFill>
                <a:latin typeface="PingFang SC"/>
              </a:defRPr>
            </a:pPr>
            <a:r>
              <a:t>Terranova 的解法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707088"/>
                </a:solidFill>
                <a:latin typeface="PingFang SC"/>
              </a:defRPr>
            </a:pPr>
            <a:r>
              <a:t>三合一系统，缺一不可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07088"/>
                </a:solidFill>
                <a:latin typeface="PingFang SC"/>
              </a:defRPr>
            </a:pPr>
            <a:r>
              <a:t>5/16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000" b="1">
                <a:solidFill>
                  <a:srgbClr val="FFFFFF"/>
                </a:solidFill>
                <a:latin typeface="PingFang SC"/>
              </a:defRPr>
            </a:pPr>
            <a:r>
              <a:t>知识图谱  ×  游戏化探索  ×  AI 个性化  =  Terranova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651760"/>
            <a:ext cx="3291840" cy="356616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88036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KG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92608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PingFang SC"/>
              </a:defRPr>
            </a:pPr>
            <a:r>
              <a:t>知识图谱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33756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07088"/>
                </a:solidFill>
                <a:latin typeface="PingFang SC"/>
              </a:defRPr>
            </a:pPr>
            <a:r>
              <a:t>将课程→章节→知识点 建模为有向图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840480"/>
            <a:ext cx="2834640" cy="13716"/>
          </a:xfrm>
          <a:prstGeom prst="rect">
            <a:avLst/>
          </a:prstGeom>
          <a:solidFill>
            <a:srgbClr val="28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283464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40"/>
              </a:lnSpc>
              <a:defRPr sz="1400" b="0">
                <a:solidFill>
                  <a:srgbClr val="D0D0D8"/>
                </a:solidFill>
                <a:latin typeface="PingFang SC"/>
              </a:defRPr>
            </a:pPr>
            <a:r>
              <a:t>4级节点结构</a:t>
            </a:r>
          </a:p>
          <a:p>
            <a:pPr algn="l">
              <a:lnSpc>
                <a:spcPts val="2240"/>
              </a:lnSpc>
              <a:defRPr sz="1400" b="0">
                <a:solidFill>
                  <a:srgbClr val="D0D0D8"/>
                </a:solidFill>
                <a:latin typeface="PingFang SC"/>
              </a:defRPr>
            </a:pPr>
            <a:r>
              <a:t>4种关系类型</a:t>
            </a:r>
          </a:p>
          <a:p>
            <a:pPr algn="l">
              <a:lnSpc>
                <a:spcPts val="2240"/>
              </a:lnSpc>
              <a:defRPr sz="1400" b="0">
                <a:solidFill>
                  <a:srgbClr val="D0D0D8"/>
                </a:solidFill>
                <a:latin typeface="PingFang SC"/>
              </a:defRPr>
            </a:pPr>
            <a:r>
              <a:t>自动推理路径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669280"/>
            <a:ext cx="2834640" cy="365760"/>
          </a:xfrm>
          <a:prstGeom prst="roundRect">
            <a:avLst>
              <a:gd name="adj" fmla="val 3000"/>
            </a:avLst>
          </a:prstGeom>
          <a:solidFill>
            <a:srgbClr val="0A121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696712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3B82F6"/>
                </a:solidFill>
                <a:latin typeface="PingFang SC"/>
              </a:defRPr>
            </a:pPr>
            <a:r>
              <a:t>解决：路径迷茫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2651760"/>
            <a:ext cx="3291840" cy="356616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80560" y="2880360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RPG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92608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PingFang SC"/>
              </a:defRPr>
            </a:pPr>
            <a:r>
              <a:t>游戏化引擎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333756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07088"/>
                </a:solidFill>
                <a:latin typeface="PingFang SC"/>
              </a:defRPr>
            </a:pPr>
            <a:r>
              <a:t>把图谱渲染为 可探索的 RPG 地图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840480"/>
            <a:ext cx="2834640" cy="13716"/>
          </a:xfrm>
          <a:prstGeom prst="rect">
            <a:avLst/>
          </a:prstGeom>
          <a:solidFill>
            <a:srgbClr val="28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4023360"/>
            <a:ext cx="283464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40"/>
              </a:lnSpc>
              <a:defRPr sz="1400" b="0">
                <a:solidFill>
                  <a:srgbClr val="D0D0D8"/>
                </a:solidFill>
                <a:latin typeface="PingFang SC"/>
              </a:defRPr>
            </a:pPr>
            <a:r>
              <a:t>迷雾机制 (FoW)</a:t>
            </a:r>
          </a:p>
          <a:p>
            <a:pPr algn="l">
              <a:lnSpc>
                <a:spcPts val="2240"/>
              </a:lnSpc>
              <a:defRPr sz="1400" b="0">
                <a:solidFill>
                  <a:srgbClr val="D0D0D8"/>
                </a:solidFill>
                <a:latin typeface="PingFang SC"/>
              </a:defRPr>
            </a:pPr>
            <a:r>
              <a:t>任务/成就/社交</a:t>
            </a:r>
          </a:p>
          <a:p>
            <a:pPr algn="l">
              <a:lnSpc>
                <a:spcPts val="2240"/>
              </a:lnSpc>
              <a:defRPr sz="1400" b="0">
                <a:solidFill>
                  <a:srgbClr val="D0D0D8"/>
                </a:solidFill>
                <a:latin typeface="PingFang SC"/>
              </a:defRPr>
            </a:pPr>
            <a:r>
              <a:t>排行+组队探索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5669280"/>
            <a:ext cx="2834640" cy="365760"/>
          </a:xfrm>
          <a:prstGeom prst="roundRect">
            <a:avLst>
              <a:gd name="adj" fmla="val 3000"/>
            </a:avLst>
          </a:prstGeom>
          <a:solidFill>
            <a:srgbClr val="0A121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5696712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8B5CF6"/>
                </a:solidFill>
                <a:latin typeface="PingFang SC"/>
              </a:defRPr>
            </a:pPr>
            <a:r>
              <a:t>解决：动力缺失+反馈真空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2651760"/>
            <a:ext cx="3291840" cy="356616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046720" y="2880360"/>
            <a:ext cx="640080" cy="6400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292608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PingFang SC"/>
              </a:defRPr>
            </a:pPr>
            <a:r>
              <a:t>AI 智能辅导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33756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07088"/>
                </a:solidFill>
                <a:latin typeface="PingFang SC"/>
              </a:defRPr>
            </a:pPr>
            <a:r>
              <a:t>LLM 基于图谱上下文 生成个性化内容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3840480"/>
            <a:ext cx="2834640" cy="13716"/>
          </a:xfrm>
          <a:prstGeom prst="rect">
            <a:avLst/>
          </a:prstGeom>
          <a:solidFill>
            <a:srgbClr val="28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4023360"/>
            <a:ext cx="283464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40"/>
              </a:lnSpc>
              <a:defRPr sz="1400" b="0">
                <a:solidFill>
                  <a:srgbClr val="D0D0D8"/>
                </a:solidFill>
                <a:latin typeface="PingFang SC"/>
              </a:defRPr>
            </a:pPr>
            <a:r>
              <a:t>知识点讲解生成</a:t>
            </a:r>
          </a:p>
          <a:p>
            <a:pPr algn="l">
              <a:lnSpc>
                <a:spcPts val="2240"/>
              </a:lnSpc>
              <a:defRPr sz="1400" b="0">
                <a:solidFill>
                  <a:srgbClr val="D0D0D8"/>
                </a:solidFill>
                <a:latin typeface="PingFang SC"/>
              </a:defRPr>
            </a:pPr>
            <a:r>
              <a:t>Graph-RAG 问答</a:t>
            </a:r>
          </a:p>
          <a:p>
            <a:pPr algn="l">
              <a:lnSpc>
                <a:spcPts val="2240"/>
              </a:lnSpc>
              <a:defRPr sz="1400" b="0">
                <a:solidFill>
                  <a:srgbClr val="D0D0D8"/>
                </a:solidFill>
                <a:latin typeface="PingFang SC"/>
              </a:defRPr>
            </a:pPr>
            <a:r>
              <a:t>薄弱路径推荐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5669280"/>
            <a:ext cx="2834640" cy="365760"/>
          </a:xfrm>
          <a:prstGeom prst="roundRect">
            <a:avLst>
              <a:gd name="adj" fmla="val 3000"/>
            </a:avLst>
          </a:prstGeom>
          <a:solidFill>
            <a:srgbClr val="0A121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5696712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6B6D4"/>
                </a:solidFill>
                <a:latin typeface="PingFang SC"/>
              </a:defRPr>
            </a:pPr>
            <a:r>
              <a:t>解决：知识孤岛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5C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400" b="1">
                <a:solidFill>
                  <a:srgbClr val="F5C818"/>
                </a:solidFill>
                <a:latin typeface="PingFang SC"/>
              </a:defRPr>
            </a:pPr>
            <a:r>
              <a:t>产品实景展示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707088"/>
                </a:solidFill>
                <a:latin typeface="PingFang SC"/>
              </a:defRPr>
            </a:pPr>
            <a:r>
              <a:t>已完成的课程大陆地图——全部来自真实产品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07088"/>
                </a:solidFill>
                <a:latin typeface="PingFang SC"/>
              </a:defRPr>
            </a:pPr>
            <a:r>
              <a:t>8/16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474720" cy="274320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F5C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rranova-map-v3_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3200400" cy="1920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37490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5C818"/>
                </a:solidFill>
                <a:latin typeface="PingFang SC"/>
              </a:defRPr>
            </a:pPr>
            <a:r>
              <a:t>知识大陆总览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554480"/>
            <a:ext cx="3474720" cy="274320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p-ds-fore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691640"/>
            <a:ext cx="3200400" cy="1920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34840" y="37490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10B981"/>
                </a:solidFill>
                <a:latin typeface="PingFang SC"/>
              </a:defRPr>
            </a:pPr>
            <a:r>
              <a:t>数据结构·森林王国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474720" cy="274320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map-cn-volcani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1691640"/>
            <a:ext cx="3200400" cy="19202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83880" y="37490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97316"/>
                </a:solidFill>
                <a:latin typeface="PingFang SC"/>
              </a:defRPr>
            </a:pPr>
            <a:r>
              <a:t>计算机网络·火山大陆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526280"/>
            <a:ext cx="2606040" cy="178308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1_log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4599432"/>
            <a:ext cx="2459736" cy="1371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1792" y="5961888"/>
            <a:ext cx="24597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707088"/>
                </a:solidFill>
                <a:latin typeface="PingFang SC"/>
              </a:defRPr>
            </a:pPr>
            <a:r>
              <a:t>登录界面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3552" y="4526280"/>
            <a:ext cx="2606040" cy="178308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3_worldm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6704" y="4599432"/>
            <a:ext cx="2459736" cy="13716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346704" y="5961888"/>
            <a:ext cx="24597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707088"/>
                </a:solidFill>
                <a:latin typeface="PingFang SC"/>
              </a:defRPr>
            </a:pPr>
            <a:r>
              <a:t>课程地图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98464" y="4526280"/>
            <a:ext cx="2606040" cy="178308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06_leader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1616" y="4599432"/>
            <a:ext cx="2459736" cy="1371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71616" y="5961888"/>
            <a:ext cx="24597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707088"/>
                </a:solidFill>
                <a:latin typeface="PingFang SC"/>
              </a:defRPr>
            </a:pPr>
            <a:r>
              <a:t>英雄排行榜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23376" y="4526280"/>
            <a:ext cx="2606040" cy="178308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07_profi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96528" y="4599432"/>
            <a:ext cx="2459736" cy="13716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796528" y="5961888"/>
            <a:ext cx="24597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707088"/>
                </a:solidFill>
                <a:latin typeface="PingFang SC"/>
              </a:defRPr>
            </a:pPr>
            <a:r>
              <a:t>冒险者资料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F5C818"/>
                </a:solidFill>
                <a:latin typeface="PingFang SC"/>
              </a:defRPr>
            </a:pPr>
            <a:r>
              <a:t>RPG 像素风格 · React + D3.js + FastAPI + Neo4j · 全栈自研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07088"/>
                </a:solidFill>
                <a:latin typeface="PingFang SC"/>
              </a:defRPr>
            </a:pPr>
            <a:r>
              <a:t>8/16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5C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400" b="1">
                <a:solidFill>
                  <a:srgbClr val="F5C818"/>
                </a:solidFill>
                <a:latin typeface="PingFang SC"/>
              </a:defRPr>
            </a:pPr>
            <a:r>
              <a:t>核心玩法机制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707088"/>
                </a:solidFill>
                <a:latin typeface="PingFang SC"/>
              </a:defRPr>
            </a:pPr>
            <a:r>
              <a:t>Fog of War + Secret Passages + Quest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07088"/>
                </a:solidFill>
                <a:latin typeface="PingFang SC"/>
              </a:defRPr>
            </a:pPr>
            <a:r>
              <a:t>7/16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6B6D4"/>
                </a:solidFill>
                <a:latin typeface="PingFang SC"/>
              </a:defRPr>
            </a:pPr>
            <a:r>
              <a:t>知识大陆地图实景</a:t>
            </a:r>
          </a:p>
        </p:txBody>
      </p:sp>
      <p:pic>
        <p:nvPicPr>
          <p:cNvPr id="7" name="Picture 6" descr="terranova-map-v3_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3840480" cy="2194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160520"/>
            <a:ext cx="3840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6B6D4"/>
                </a:solidFill>
                <a:latin typeface="PingFang SC"/>
              </a:defRPr>
            </a:pPr>
            <a:r>
              <a:t>迷雾系统 (Fog of War)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4544568"/>
            <a:ext cx="201168" cy="201168"/>
          </a:xfrm>
          <a:prstGeom prst="ellipse">
            <a:avLst/>
          </a:prstGeom>
          <a:solidFill>
            <a:srgbClr val="707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52628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完全迷雾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4526280"/>
            <a:ext cx="2103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D0D0D8"/>
                </a:solidFill>
                <a:latin typeface="PingFang SC"/>
              </a:defRPr>
            </a:pPr>
            <a:r>
              <a:t>只知道存在一片区域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892040"/>
            <a:ext cx="201168" cy="20116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873752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边缘可见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4873752"/>
            <a:ext cx="2103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D0D0D8"/>
                </a:solidFill>
                <a:latin typeface="PingFang SC"/>
              </a:defRPr>
            </a:pPr>
            <a:r>
              <a:t>名称可见，内容锁定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5239512"/>
            <a:ext cx="201168" cy="20116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221224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已解锁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5221224"/>
            <a:ext cx="2103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D0D0D8"/>
                </a:solidFill>
                <a:latin typeface="PingFang SC"/>
              </a:defRPr>
            </a:pPr>
            <a:r>
              <a:t>前置满足，可进入学习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5586984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568696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已探索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5568696"/>
            <a:ext cx="2103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D0D0D8"/>
                </a:solidFill>
                <a:latin typeface="PingFang SC"/>
              </a:defRPr>
            </a:pPr>
            <a:r>
              <a:t>完成学习，周围消雾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5934456"/>
            <a:ext cx="201168" cy="201168"/>
          </a:xfrm>
          <a:prstGeom prst="ellipse">
            <a:avLst/>
          </a:prstGeom>
          <a:solidFill>
            <a:srgbClr val="F5C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916168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已精通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5916168"/>
            <a:ext cx="2103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D0D0D8"/>
                </a:solidFill>
                <a:latin typeface="PingFang SC"/>
              </a:defRPr>
            </a:pPr>
            <a:r>
              <a:t>3星满级，点亮灯塔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0" y="1645920"/>
            <a:ext cx="3383280" cy="201168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754880" y="1645920"/>
            <a:ext cx="54864" cy="20116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182880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8B5CF6"/>
                </a:solidFill>
                <a:latin typeface="PingFang SC"/>
              </a:defRPr>
            </a:pPr>
            <a:r>
              <a:t>暗道机制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21488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07088"/>
                </a:solidFill>
                <a:latin typeface="PingFang SC"/>
              </a:defRPr>
            </a:pPr>
            <a:r>
              <a:t>跨课关联自动发现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2514600"/>
            <a:ext cx="28346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50"/>
              </a:lnSpc>
              <a:defRPr sz="1300" b="0">
                <a:solidFill>
                  <a:srgbClr val="D0D0D8"/>
                </a:solidFill>
                <a:latin typeface="PingFang SC"/>
              </a:defRPr>
            </a:pPr>
            <a:r>
              <a:t>学到「B+树」后，地图上</a:t>
            </a:r>
          </a:p>
          <a:p>
            <a:pPr algn="l">
              <a:lnSpc>
                <a:spcPts val="1950"/>
              </a:lnSpc>
              <a:defRPr sz="1300" b="0">
                <a:solidFill>
                  <a:srgbClr val="D0D0D8"/>
                </a:solidFill>
                <a:latin typeface="PingFang SC"/>
              </a:defRPr>
            </a:pPr>
            <a:r>
              <a:t>动画展现通往「数据库索引」</a:t>
            </a:r>
          </a:p>
          <a:p>
            <a:pPr algn="l">
              <a:lnSpc>
                <a:spcPts val="1950"/>
              </a:lnSpc>
              <a:defRPr sz="1300" b="0">
                <a:solidFill>
                  <a:srgbClr val="D0D0D8"/>
                </a:solidFill>
                <a:latin typeface="PingFang SC"/>
              </a:defRPr>
            </a:pPr>
            <a:r>
              <a:t>的隐藏通道——跨课程惊喜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54880" y="3931920"/>
            <a:ext cx="3383280" cy="201168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54880" y="3931920"/>
            <a:ext cx="54864" cy="20116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0" y="411480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97316"/>
                </a:solidFill>
                <a:latin typeface="PingFang SC"/>
              </a:defRPr>
            </a:pPr>
            <a:r>
              <a:t>任务系统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44348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07088"/>
                </a:solidFill>
                <a:latin typeface="PingFang SC"/>
              </a:defRPr>
            </a:pPr>
            <a:r>
              <a:t>三重任务驱动学习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4800600"/>
            <a:ext cx="28346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50"/>
              </a:lnSpc>
              <a:defRPr sz="1300" b="0">
                <a:solidFill>
                  <a:srgbClr val="D0D0D8"/>
                </a:solidFill>
                <a:latin typeface="PingFang SC"/>
              </a:defRPr>
            </a:pPr>
            <a:r>
              <a:t>每日任务：复习+学新保持节奏</a:t>
            </a:r>
          </a:p>
          <a:p>
            <a:pPr algn="l">
              <a:lnSpc>
                <a:spcPts val="1950"/>
              </a:lnSpc>
              <a:defRPr sz="1300" b="0">
                <a:solidFill>
                  <a:srgbClr val="D0D0D8"/>
                </a:solidFill>
                <a:latin typeface="PingFang SC"/>
              </a:defRPr>
            </a:pPr>
            <a:r>
              <a:t>挑战任务：限时路径冲刺</a:t>
            </a:r>
          </a:p>
          <a:p>
            <a:pPr algn="l">
              <a:lnSpc>
                <a:spcPts val="1950"/>
              </a:lnSpc>
              <a:defRPr sz="1300" b="0">
                <a:solidFill>
                  <a:srgbClr val="D0D0D8"/>
                </a:solidFill>
                <a:latin typeface="PingFang SC"/>
              </a:defRPr>
            </a:pPr>
            <a:r>
              <a:t>支线任务：暗道触发的探索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1645920"/>
            <a:ext cx="3383280" cy="201168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412480" y="1645920"/>
            <a:ext cx="54864" cy="2011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0" y="182880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0B981"/>
                </a:solidFill>
                <a:latin typeface="PingFang SC"/>
              </a:defRPr>
            </a:pPr>
            <a:r>
              <a:t>成就体系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21488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07088"/>
                </a:solidFill>
                <a:latin typeface="PingFang SC"/>
              </a:defRPr>
            </a:pPr>
            <a:r>
              <a:t>经验值+等级+徽章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2514600"/>
            <a:ext cx="28346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50"/>
              </a:lnSpc>
              <a:defRPr sz="1300" b="0">
                <a:solidFill>
                  <a:srgbClr val="D0D0D8"/>
                </a:solidFill>
                <a:latin typeface="PingFang SC"/>
              </a:defRPr>
            </a:pPr>
            <a:r>
              <a:t>学徒→入门→进阶→精通→大师</a:t>
            </a:r>
          </a:p>
          <a:p>
            <a:pPr algn="l">
              <a:lnSpc>
                <a:spcPts val="1950"/>
              </a:lnSpc>
              <a:defRPr sz="1300" b="0">
                <a:solidFill>
                  <a:srgbClr val="D0D0D8"/>
                </a:solidFill>
                <a:latin typeface="PingFang SC"/>
              </a:defRPr>
            </a:pPr>
            <a:r>
              <a:t>里程碑/探索/稀有成就</a:t>
            </a:r>
          </a:p>
          <a:p>
            <a:pPr algn="l">
              <a:lnSpc>
                <a:spcPts val="1950"/>
              </a:lnSpc>
              <a:defRPr sz="1300" b="0">
                <a:solidFill>
                  <a:srgbClr val="D0D0D8"/>
                </a:solidFill>
                <a:latin typeface="PingFang SC"/>
              </a:defRPr>
            </a:pPr>
            <a:r>
              <a:t>全图谱精通「终极徽章」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412480" y="3931920"/>
            <a:ext cx="3383280" cy="201168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412480" y="3931920"/>
            <a:ext cx="54864" cy="201168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0" y="411480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43F5E"/>
                </a:solidFill>
                <a:latin typeface="PingFang SC"/>
              </a:defRPr>
            </a:pPr>
            <a:r>
              <a:t>社交竞争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44348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07088"/>
                </a:solidFill>
                <a:latin typeface="PingFang SC"/>
              </a:defRPr>
            </a:pPr>
            <a:r>
              <a:t>排行+组队+插旗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4800600"/>
            <a:ext cx="28346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50"/>
              </a:lnSpc>
              <a:defRPr sz="1300" b="0">
                <a:solidFill>
                  <a:srgbClr val="D0D0D8"/>
                </a:solidFill>
                <a:latin typeface="PingFang SC"/>
              </a:defRPr>
            </a:pPr>
            <a:r>
              <a:t>探索率/连续打卡/EXP排行</a:t>
            </a:r>
          </a:p>
          <a:p>
            <a:pPr algn="l">
              <a:lnSpc>
                <a:spcPts val="1950"/>
              </a:lnSpc>
              <a:defRPr sz="1300" b="0">
                <a:solidFill>
                  <a:srgbClr val="D0D0D8"/>
                </a:solidFill>
                <a:latin typeface="PingFang SC"/>
              </a:defRPr>
            </a:pPr>
            <a:r>
              <a:t>3~5人组队协作开拓</a:t>
            </a:r>
          </a:p>
          <a:p>
            <a:pPr algn="l">
              <a:lnSpc>
                <a:spcPts val="1950"/>
              </a:lnSpc>
              <a:defRPr sz="1300" b="0">
                <a:solidFill>
                  <a:srgbClr val="D0D0D8"/>
                </a:solidFill>
                <a:latin typeface="PingFang SC"/>
              </a:defRPr>
            </a:pPr>
            <a:r>
              <a:t>知识点首位探索者留名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5943600"/>
            <a:ext cx="10972800" cy="548640"/>
          </a:xfrm>
          <a:prstGeom prst="roundRect">
            <a:avLst>
              <a:gd name="adj" fmla="val 3000"/>
            </a:avLst>
          </a:prstGeom>
          <a:solidFill>
            <a:srgbClr val="0A0E1A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98932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0">
                <a:solidFill>
                  <a:srgbClr val="F5C818"/>
                </a:solidFill>
                <a:latin typeface="PingFang SC"/>
              </a:defRPr>
            </a:pPr>
            <a:r>
              <a:t>正向循环：学习 → EXP + 消雾 → 成就 → 徽章 → 排行 → 更想学 → ...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07088"/>
                </a:solidFill>
                <a:latin typeface="PingFang SC"/>
              </a:defRPr>
            </a:pPr>
            <a:r>
              <a:t>7/16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5C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400" b="1">
                <a:solidFill>
                  <a:srgbClr val="F5C818"/>
                </a:solidFill>
                <a:latin typeface="PingFang SC"/>
              </a:defRPr>
            </a:pPr>
            <a:r>
              <a:t>竞争格局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707088"/>
                </a:solidFill>
                <a:latin typeface="PingFang SC"/>
              </a:defRPr>
            </a:pPr>
            <a:r>
              <a:t>我们在「结构化 × 游戏化 × AI」交叉点上，独占蓝海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07088"/>
                </a:solidFill>
                <a:latin typeface="PingFang SC"/>
              </a:defRPr>
            </a:pPr>
            <a:r>
              <a:t>10/16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6400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PingFang SC"/>
              </a:defRPr>
            </a:pPr>
            <a:r>
              <a:t>核心差异化对比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1234440" cy="502920"/>
          </a:xfrm>
          <a:prstGeom prst="roundRect">
            <a:avLst>
              <a:gd name="adj" fmla="val 3000"/>
            </a:avLst>
          </a:prstGeom>
          <a:solidFill>
            <a:srgbClr val="1A1E38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267712"/>
            <a:ext cx="1097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707088"/>
                </a:solidFill>
                <a:latin typeface="PingFang SC"/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2011680" y="2194560"/>
            <a:ext cx="1508760" cy="502920"/>
          </a:xfrm>
          <a:prstGeom prst="roundRect">
            <a:avLst>
              <a:gd name="adj" fmla="val 3000"/>
            </a:avLst>
          </a:prstGeom>
          <a:solidFill>
            <a:srgbClr val="1A1E38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84832" y="2267712"/>
            <a:ext cx="1371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D0D0D8"/>
                </a:solidFill>
                <a:latin typeface="PingFang SC"/>
              </a:defRPr>
            </a:pPr>
            <a:r>
              <a:t>MOOC/B站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194560"/>
            <a:ext cx="1325880" cy="502920"/>
          </a:xfrm>
          <a:prstGeom prst="roundRect">
            <a:avLst>
              <a:gd name="adj" fmla="val 3000"/>
            </a:avLst>
          </a:prstGeom>
          <a:solidFill>
            <a:srgbClr val="1A1E38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2267712"/>
            <a:ext cx="11887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D0D0D8"/>
                </a:solidFill>
                <a:latin typeface="PingFang SC"/>
              </a:defRPr>
            </a:pPr>
            <a:r>
              <a:t>Notion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0" y="2194560"/>
            <a:ext cx="1234440" cy="502920"/>
          </a:xfrm>
          <a:prstGeom prst="roundRect">
            <a:avLst>
              <a:gd name="adj" fmla="val 3000"/>
            </a:avLst>
          </a:prstGeom>
          <a:solidFill>
            <a:srgbClr val="1A1E38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10912" y="2267712"/>
            <a:ext cx="1097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D0D0D8"/>
                </a:solidFill>
                <a:latin typeface="PingFang SC"/>
              </a:defRPr>
            </a:pPr>
            <a:r>
              <a:t>Anki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94560"/>
            <a:ext cx="1783080" cy="502920"/>
          </a:xfrm>
          <a:prstGeom prst="roundRect">
            <a:avLst>
              <a:gd name="adj" fmla="val 3000"/>
            </a:avLst>
          </a:prstGeom>
          <a:solidFill>
            <a:srgbClr val="1A1E38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2" y="2267712"/>
            <a:ext cx="1645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5C818"/>
                </a:solidFill>
                <a:latin typeface="PingFang SC"/>
              </a:defRPr>
            </a:pPr>
            <a:r>
              <a:t>Terranova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697480"/>
            <a:ext cx="1234440" cy="475488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770632"/>
            <a:ext cx="1143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D0D0D8"/>
                </a:solidFill>
                <a:latin typeface="PingFang SC"/>
              </a:defRPr>
            </a:pPr>
            <a:r>
              <a:t>知识结构化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11680" y="2697480"/>
            <a:ext cx="1508760" cy="475488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57400" y="2770632"/>
            <a:ext cx="14173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64444"/>
                </a:solidFill>
                <a:latin typeface="PingFang SC"/>
              </a:defRPr>
            </a:pPr>
            <a:r>
              <a:t>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66160" y="2697480"/>
            <a:ext cx="1325880" cy="475488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11880" y="2770632"/>
            <a:ext cx="1234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998844"/>
                </a:solidFill>
                <a:latin typeface="PingFang SC"/>
              </a:defRPr>
            </a:pPr>
            <a:r>
              <a:t>△ 手动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7760" y="2697480"/>
            <a:ext cx="1234440" cy="475488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83480" y="2770632"/>
            <a:ext cx="1143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64444"/>
                </a:solidFill>
                <a:latin typeface="PingFang SC"/>
              </a:defRPr>
            </a:pPr>
            <a:r>
              <a:t>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697480"/>
            <a:ext cx="1783080" cy="475488"/>
          </a:xfrm>
          <a:prstGeom prst="roundRect">
            <a:avLst>
              <a:gd name="adj" fmla="val 3000"/>
            </a:avLst>
          </a:prstGeom>
          <a:solidFill>
            <a:srgbClr val="121F12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2770632"/>
            <a:ext cx="1691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10B981"/>
                </a:solidFill>
                <a:latin typeface="PingFang SC"/>
              </a:defRPr>
            </a:pPr>
            <a:r>
              <a:t>✓ 图谱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3200400"/>
            <a:ext cx="1234440" cy="475488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3273552"/>
            <a:ext cx="1143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D0D0D8"/>
                </a:solidFill>
                <a:latin typeface="PingFang SC"/>
              </a:defRPr>
            </a:pPr>
            <a:r>
              <a:t>学习路径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11680" y="3200400"/>
            <a:ext cx="1508760" cy="475488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57400" y="3273552"/>
            <a:ext cx="14173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D0D0D8"/>
                </a:solidFill>
                <a:latin typeface="PingFang SC"/>
              </a:defRPr>
            </a:pPr>
            <a:r>
              <a:t>固定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66160" y="3200400"/>
            <a:ext cx="1325880" cy="475488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1880" y="3273552"/>
            <a:ext cx="1234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64444"/>
                </a:solidFill>
                <a:latin typeface="PingFang SC"/>
              </a:defRPr>
            </a:pPr>
            <a:r>
              <a:t>✗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37760" y="3200400"/>
            <a:ext cx="1234440" cy="475488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83480" y="3273552"/>
            <a:ext cx="1143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64444"/>
                </a:solidFill>
                <a:latin typeface="PingFang SC"/>
              </a:defRPr>
            </a:pPr>
            <a:r>
              <a:t>✗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3200400"/>
            <a:ext cx="1783080" cy="475488"/>
          </a:xfrm>
          <a:prstGeom prst="roundRect">
            <a:avLst>
              <a:gd name="adj" fmla="val 3000"/>
            </a:avLst>
          </a:prstGeom>
          <a:solidFill>
            <a:srgbClr val="121F12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3273552"/>
            <a:ext cx="1691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10B981"/>
                </a:solidFill>
                <a:latin typeface="PingFang SC"/>
              </a:defRPr>
            </a:pPr>
            <a:r>
              <a:t>✓ 智能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3703320"/>
            <a:ext cx="1234440" cy="475488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3776472"/>
            <a:ext cx="1143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D0D0D8"/>
                </a:solidFill>
                <a:latin typeface="PingFang SC"/>
              </a:defRPr>
            </a:pPr>
            <a:r>
              <a:t>跨课关联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011680" y="3703320"/>
            <a:ext cx="1508760" cy="475488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57400" y="3776472"/>
            <a:ext cx="14173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64444"/>
                </a:solidFill>
                <a:latin typeface="PingFang SC"/>
              </a:defRPr>
            </a:pPr>
            <a:r>
              <a:t>✗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566160" y="3703320"/>
            <a:ext cx="1325880" cy="475488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11880" y="3776472"/>
            <a:ext cx="1234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998844"/>
                </a:solidFill>
                <a:latin typeface="PingFang SC"/>
              </a:defRPr>
            </a:pPr>
            <a:r>
              <a:t>△ 手动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937760" y="3703320"/>
            <a:ext cx="1234440" cy="475488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83480" y="3776472"/>
            <a:ext cx="1143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64444"/>
                </a:solidFill>
                <a:latin typeface="PingFang SC"/>
              </a:defRPr>
            </a:pPr>
            <a:r>
              <a:t>✗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3703320"/>
            <a:ext cx="1783080" cy="475488"/>
          </a:xfrm>
          <a:prstGeom prst="roundRect">
            <a:avLst>
              <a:gd name="adj" fmla="val 3000"/>
            </a:avLst>
          </a:prstGeom>
          <a:solidFill>
            <a:srgbClr val="121F12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3776472"/>
            <a:ext cx="1691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10B981"/>
                </a:solidFill>
                <a:latin typeface="PingFang SC"/>
              </a:defRPr>
            </a:pPr>
            <a:r>
              <a:t>✓ 自动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206240"/>
            <a:ext cx="1234440" cy="475488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4279392"/>
            <a:ext cx="1143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D0D0D8"/>
                </a:solidFill>
                <a:latin typeface="PingFang SC"/>
              </a:defRPr>
            </a:pPr>
            <a:r>
              <a:t>游戏化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011680" y="4206240"/>
            <a:ext cx="1508760" cy="475488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57400" y="4279392"/>
            <a:ext cx="14173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64444"/>
                </a:solidFill>
                <a:latin typeface="PingFang SC"/>
              </a:defRPr>
            </a:pPr>
            <a:r>
              <a:t>✗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566160" y="4206240"/>
            <a:ext cx="1325880" cy="475488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11880" y="4279392"/>
            <a:ext cx="1234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64444"/>
                </a:solidFill>
                <a:latin typeface="PingFang SC"/>
              </a:defRPr>
            </a:pPr>
            <a:r>
              <a:t>✗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937760" y="4206240"/>
            <a:ext cx="1234440" cy="475488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983480" y="4279392"/>
            <a:ext cx="1143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D0D0D8"/>
                </a:solidFill>
                <a:latin typeface="PingFang SC"/>
              </a:defRPr>
            </a:pPr>
            <a:r>
              <a:t>基础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17920" y="4206240"/>
            <a:ext cx="1783080" cy="475488"/>
          </a:xfrm>
          <a:prstGeom prst="roundRect">
            <a:avLst>
              <a:gd name="adj" fmla="val 3000"/>
            </a:avLst>
          </a:prstGeom>
          <a:solidFill>
            <a:srgbClr val="121F12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63640" y="4279392"/>
            <a:ext cx="1691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10B981"/>
                </a:solidFill>
                <a:latin typeface="PingFang SC"/>
              </a:defRPr>
            </a:pPr>
            <a:r>
              <a:t>✓ 完整RPG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1520" y="4709160"/>
            <a:ext cx="1234440" cy="475488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7240" y="4782312"/>
            <a:ext cx="1143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D0D0D8"/>
                </a:solidFill>
                <a:latin typeface="PingFang SC"/>
              </a:defRPr>
            </a:pPr>
            <a:r>
              <a:t>AI辅导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011680" y="4709160"/>
            <a:ext cx="1508760" cy="475488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4782312"/>
            <a:ext cx="14173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64444"/>
                </a:solidFill>
                <a:latin typeface="PingFang SC"/>
              </a:defRPr>
            </a:pPr>
            <a:r>
              <a:t>✗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566160" y="4709160"/>
            <a:ext cx="1325880" cy="475488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11880" y="4782312"/>
            <a:ext cx="1234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64444"/>
                </a:solidFill>
                <a:latin typeface="PingFang SC"/>
              </a:defRPr>
            </a:pPr>
            <a:r>
              <a:t>✗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937760" y="4709160"/>
            <a:ext cx="1234440" cy="475488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83480" y="4782312"/>
            <a:ext cx="1143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64444"/>
                </a:solidFill>
                <a:latin typeface="PingFang SC"/>
              </a:defRPr>
            </a:pPr>
            <a:r>
              <a:t>✗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217920" y="4709160"/>
            <a:ext cx="1783080" cy="475488"/>
          </a:xfrm>
          <a:prstGeom prst="roundRect">
            <a:avLst>
              <a:gd name="adj" fmla="val 3000"/>
            </a:avLst>
          </a:prstGeom>
          <a:solidFill>
            <a:srgbClr val="121F12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63640" y="4782312"/>
            <a:ext cx="1691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10B981"/>
                </a:solidFill>
                <a:latin typeface="PingFang SC"/>
              </a:defRPr>
            </a:pPr>
            <a:r>
              <a:t>✓ 原生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72400" y="164592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5C818"/>
                </a:solidFill>
                <a:latin typeface="PingFang SC"/>
              </a:defRPr>
            </a:pPr>
            <a:r>
              <a:t>竞争壁垒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772400" y="2194560"/>
            <a:ext cx="3931920" cy="91440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772400" y="2194560"/>
            <a:ext cx="54864" cy="914400"/>
          </a:xfrm>
          <a:prstGeom prst="rect">
            <a:avLst/>
          </a:prstGeom>
          <a:solidFill>
            <a:srgbClr val="F5C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046720" y="228600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F5C818"/>
                </a:solidFill>
                <a:latin typeface="PingFang SC"/>
              </a:defRPr>
            </a:pPr>
            <a:r>
              <a:t>三合一集成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46720" y="2578608"/>
            <a:ext cx="3383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0D0D8"/>
                </a:solidFill>
                <a:latin typeface="PingFang SC"/>
              </a:defRPr>
            </a:pPr>
            <a:r>
              <a:t>知识图谱+游戏化+AI 三者深度耦合，非简单叠加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772400" y="3291840"/>
            <a:ext cx="3931920" cy="91440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772400" y="3291840"/>
            <a:ext cx="54864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046720" y="338328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3B82F6"/>
                </a:solidFill>
                <a:latin typeface="PingFang SC"/>
              </a:defRPr>
            </a:pPr>
            <a:r>
              <a:t>图谱数据资产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46720" y="3675888"/>
            <a:ext cx="3383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0D0D8"/>
                </a:solidFill>
                <a:latin typeface="PingFang SC"/>
              </a:defRPr>
            </a:pPr>
            <a:r>
              <a:t>随着用户增多，学习路径数据 反哺推荐算法，形成数据飞轮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772400" y="4389120"/>
            <a:ext cx="3931920" cy="91440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772400" y="4389120"/>
            <a:ext cx="54864" cy="914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046720" y="448056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8B5CF6"/>
                </a:solidFill>
                <a:latin typeface="PingFang SC"/>
              </a:defRPr>
            </a:pPr>
            <a:r>
              <a:t>网络效应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4773168"/>
            <a:ext cx="3383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0D0D8"/>
                </a:solidFill>
                <a:latin typeface="PingFang SC"/>
              </a:defRPr>
            </a:pPr>
            <a:r>
              <a:t>社交、排行、组队 用户越多体验越好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772400" y="5486400"/>
            <a:ext cx="3931920" cy="91440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772400" y="5486400"/>
            <a:ext cx="54864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046720" y="557784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0B981"/>
                </a:solidFill>
                <a:latin typeface="PingFang SC"/>
              </a:defRPr>
            </a:pPr>
            <a:r>
              <a:t>先发优势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046720" y="5870448"/>
            <a:ext cx="3383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0D0D8"/>
                </a:solidFill>
                <a:latin typeface="PingFang SC"/>
              </a:defRPr>
            </a:pPr>
            <a:r>
              <a:t>高校游戏化学习赛道 几乎空白，抢占心智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07088"/>
                </a:solidFill>
                <a:latin typeface="PingFang SC"/>
              </a:defRPr>
            </a:pPr>
            <a:r>
              <a:t>10/16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57200" y="5029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3946"/>
                </a:solidFill>
              </a:defRPr>
            </a:pPr>
            <a:r>
              <a:t>核心差异化：Terranova = Duolingo (游戏化) + Notion (知识结构) + ChatGPT (AI辅导)</a:t>
            </a:r>
          </a:p>
          <a:p>
            <a:pPr algn="ctr">
              <a:defRPr sz="1400">
                <a:solidFill>
                  <a:srgbClr val="1A1A1A"/>
                </a:solidFill>
              </a:defRPr>
            </a:pPr>
          </a:p>
          <a:p>
            <a:r>
              <a:t>我们在「结构化 × 游戏化 × AI」的交叉点上，是唯一玩家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5C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400" b="1">
                <a:solidFill>
                  <a:srgbClr val="F5C818"/>
                </a:solidFill>
                <a:latin typeface="PingFang SC"/>
              </a:defRPr>
            </a:pPr>
            <a:r>
              <a:t>商业模式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707088"/>
                </a:solidFill>
                <a:latin typeface="PingFang SC"/>
              </a:defRPr>
            </a:pPr>
            <a:r>
              <a:t>Freemium → B2C 订阅 → B2B SaaS 三阶段变现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07088"/>
                </a:solidFill>
                <a:latin typeface="PingFang SC"/>
              </a:defRPr>
            </a:pPr>
            <a:r>
              <a:t>12/16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3B82F6"/>
                </a:solidFill>
                <a:latin typeface="PingFang SC"/>
              </a:defRPr>
            </a:pPr>
            <a:r>
              <a:t>B2C 学生端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1737360" cy="320040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240280"/>
            <a:ext cx="640080" cy="256032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640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PingFang SC"/>
              </a:defRPr>
            </a:pPr>
            <a:r>
              <a:t>Free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0604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免费版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1752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0D0D8"/>
                </a:solidFill>
                <a:latin typeface="PingFang SC"/>
              </a:defRPr>
            </a:pPr>
            <a:r>
              <a:t>· 单专业基础地图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01568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0D0D8"/>
                </a:solidFill>
                <a:latin typeface="PingFang SC"/>
              </a:defRPr>
            </a:pPr>
            <a:r>
              <a:t>· 每日3次AI问答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85616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0D0D8"/>
                </a:solidFill>
                <a:latin typeface="PingFang SC"/>
              </a:defRPr>
            </a:pPr>
            <a:r>
              <a:t>· 基础任务系统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754880"/>
            <a:ext cx="1463040" cy="365760"/>
          </a:xfrm>
          <a:prstGeom prst="roundRect">
            <a:avLst>
              <a:gd name="adj" fmla="val 3000"/>
            </a:avLst>
          </a:prstGeom>
          <a:solidFill>
            <a:srgbClr val="1A1E33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782312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10B981"/>
                </a:solidFill>
                <a:latin typeface="PingFang SC"/>
              </a:defRPr>
            </a:pPr>
            <a:r>
              <a:t>¥0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06040" y="2103120"/>
            <a:ext cx="1737360" cy="320040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43200" y="2240280"/>
            <a:ext cx="640080" cy="256032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2249424"/>
            <a:ext cx="640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PingFang SC"/>
              </a:defRPr>
            </a:pPr>
            <a:r>
              <a:t>Pro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60604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进阶版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01752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0D0D8"/>
                </a:solidFill>
                <a:latin typeface="PingFang SC"/>
              </a:defRPr>
            </a:pPr>
            <a:r>
              <a:t>· 全专业解锁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401568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0D0D8"/>
                </a:solidFill>
                <a:latin typeface="PingFang SC"/>
              </a:defRPr>
            </a:pPr>
            <a:r>
              <a:t>· 无限AI辅导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785616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0D0D8"/>
                </a:solidFill>
                <a:latin typeface="PingFang SC"/>
              </a:defRPr>
            </a:pPr>
            <a:r>
              <a:t>· 高级学习报告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0" y="4754880"/>
            <a:ext cx="1463040" cy="365760"/>
          </a:xfrm>
          <a:prstGeom prst="roundRect">
            <a:avLst>
              <a:gd name="adj" fmla="val 3000"/>
            </a:avLst>
          </a:prstGeom>
          <a:solidFill>
            <a:srgbClr val="1A1E33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782312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3B82F6"/>
                </a:solidFill>
                <a:latin typeface="PingFang SC"/>
              </a:defRPr>
            </a:pPr>
            <a:r>
              <a:t>¥19.9/月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0" y="2103120"/>
            <a:ext cx="1737360" cy="320040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617720" y="2240280"/>
            <a:ext cx="640080" cy="256032"/>
          </a:xfrm>
          <a:prstGeom prst="roundRect">
            <a:avLst>
              <a:gd name="adj" fmla="val 15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2249424"/>
            <a:ext cx="640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PingFang SC"/>
              </a:defRPr>
            </a:pPr>
            <a:r>
              <a:t>Team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260604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团队版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301752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0D0D8"/>
                </a:solidFill>
                <a:latin typeface="PingFang SC"/>
              </a:defRPr>
            </a:pPr>
            <a:r>
              <a:t>· 组队探索功能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3401568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0D0D8"/>
                </a:solidFill>
                <a:latin typeface="PingFang SC"/>
              </a:defRPr>
            </a:pPr>
            <a:r>
              <a:t>· 小组数据看板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3785616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0D0D8"/>
                </a:solidFill>
                <a:latin typeface="PingFang SC"/>
              </a:defRPr>
            </a:pPr>
            <a:r>
              <a:t>· 协作学习空间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17720" y="4754880"/>
            <a:ext cx="1463040" cy="365760"/>
          </a:xfrm>
          <a:prstGeom prst="roundRect">
            <a:avLst>
              <a:gd name="adj" fmla="val 3000"/>
            </a:avLst>
          </a:prstGeom>
          <a:solidFill>
            <a:srgbClr val="1A1E33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17720" y="4782312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8B5CF6"/>
                </a:solidFill>
                <a:latin typeface="PingFang SC"/>
              </a:defRPr>
            </a:pPr>
            <a:r>
              <a:t>¥39.9/月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164592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5C818"/>
                </a:solidFill>
                <a:latin typeface="PingFang SC"/>
              </a:defRPr>
            </a:pPr>
            <a:r>
              <a:t>B2B 高校/机构端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2103120"/>
            <a:ext cx="5303520" cy="118872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2103120"/>
            <a:ext cx="54864" cy="1188720"/>
          </a:xfrm>
          <a:prstGeom prst="rect">
            <a:avLst/>
          </a:prstGeom>
          <a:solidFill>
            <a:srgbClr val="F5C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2212848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5C818"/>
                </a:solidFill>
                <a:latin typeface="PingFang SC"/>
              </a:defRPr>
            </a:pPr>
            <a:r>
              <a:t>高校教学辅助 SaaS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2212848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¥5-10万/年/校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2606040"/>
            <a:ext cx="46634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D0D0D8"/>
                </a:solidFill>
                <a:latin typeface="PingFang SC"/>
              </a:defRPr>
            </a:pPr>
            <a:r>
              <a:t>定制课程图谱 · 学情分析看板 · 教学效果评估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3474720"/>
            <a:ext cx="5303520" cy="118872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3474720"/>
            <a:ext cx="54864" cy="1188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60" y="3584448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97316"/>
                </a:solidFill>
                <a:latin typeface="PingFang SC"/>
              </a:defRPr>
            </a:pPr>
            <a:r>
              <a:t>培训机构版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3584448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按学员数定价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3977640"/>
            <a:ext cx="46634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D0D0D8"/>
                </a:solidFill>
                <a:latin typeface="PingFang SC"/>
              </a:defRPr>
            </a:pPr>
            <a:r>
              <a:t>课程地图化工具 · 学员进度管理 · 招生转化提升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5029200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FFFFFF"/>
                </a:solidFill>
                <a:latin typeface="PingFang SC"/>
              </a:defRPr>
            </a:pPr>
            <a:r>
              <a:t>单位经济模型 (B2C Pro)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0" y="5394960"/>
            <a:ext cx="1234440" cy="82296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0" y="5440680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707088"/>
                </a:solidFill>
                <a:latin typeface="PingFang SC"/>
              </a:defRPr>
            </a:pPr>
            <a:r>
              <a:t>ARPU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5760720"/>
            <a:ext cx="1051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0B981"/>
                </a:solidFill>
                <a:latin typeface="PingFang SC"/>
              </a:defRPr>
            </a:pPr>
            <a:r>
              <a:t>¥239/年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589520" y="5394960"/>
            <a:ext cx="1234440" cy="82296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80960" y="5440680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707088"/>
                </a:solidFill>
                <a:latin typeface="PingFang SC"/>
              </a:defRPr>
            </a:pPr>
            <a:r>
              <a:t>CAC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80960" y="5760720"/>
            <a:ext cx="1051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0B981"/>
                </a:solidFill>
                <a:latin typeface="PingFang SC"/>
              </a:defRPr>
            </a:pPr>
            <a:r>
              <a:t>&lt;¥30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961120" y="5394960"/>
            <a:ext cx="1234440" cy="82296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52560" y="5440680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707088"/>
                </a:solidFill>
                <a:latin typeface="PingFang SC"/>
              </a:defRPr>
            </a:pPr>
            <a:r>
              <a:t>LTV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0" y="5760720"/>
            <a:ext cx="1051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0B981"/>
                </a:solidFill>
                <a:latin typeface="PingFang SC"/>
              </a:defRPr>
            </a:pPr>
            <a:r>
              <a:t>~¥500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332720" y="5394960"/>
            <a:ext cx="1234440" cy="82296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424160" y="5440680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707088"/>
                </a:solidFill>
                <a:latin typeface="PingFang SC"/>
              </a:defRPr>
            </a:pPr>
            <a:r>
              <a:t>LTV/CAC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24160" y="5760720"/>
            <a:ext cx="1051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0B981"/>
                </a:solidFill>
                <a:latin typeface="PingFang SC"/>
              </a:defRPr>
            </a:pPr>
            <a:r>
              <a:t>&gt;16x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07088"/>
                </a:solidFill>
                <a:latin typeface="PingFang SC"/>
              </a:defRPr>
            </a:pPr>
            <a:r>
              <a:t>12/16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5C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F5C818"/>
                </a:solidFill>
                <a:latin typeface="PingFang SC"/>
              </a:defRPr>
            </a:pPr>
            <a:r>
              <a:t>我们的请求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37160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FFFFFF"/>
                </a:solidFill>
                <a:latin typeface="Helvetica Neue"/>
              </a:defRPr>
            </a:pPr>
            <a:r>
              <a:t>种子轮  ¥100 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10312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707088"/>
                </a:solidFill>
                <a:latin typeface="PingFang SC"/>
              </a:defRPr>
            </a:pPr>
            <a:r>
              <a:t>出让 10% 股权  ·  估值 ¥1,000 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PingFang SC"/>
              </a:defRPr>
            </a:pPr>
            <a:r>
              <a:t>资金用途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2468880" cy="155448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400" b="1">
                <a:solidFill>
                  <a:srgbClr val="3B82F6"/>
                </a:solidFill>
                <a:latin typeface="PingFang SC"/>
              </a:defRPr>
            </a:pPr>
            <a:r>
              <a:t>40%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FFFFFF"/>
                </a:solidFill>
                <a:latin typeface="PingFang SC"/>
              </a:defRPr>
            </a:pPr>
            <a:r>
              <a:t>产品研发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2103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79"/>
              </a:lnSpc>
              <a:defRPr sz="1200" b="0">
                <a:solidFill>
                  <a:srgbClr val="D0D0D8"/>
                </a:solidFill>
                <a:latin typeface="PingFang SC"/>
              </a:defRPr>
            </a:pPr>
            <a:r>
              <a:t>LLM接入 · 图谱扩展</a:t>
            </a:r>
          </a:p>
          <a:p>
            <a:pPr algn="ctr">
              <a:lnSpc>
                <a:spcPts val="1679"/>
              </a:lnSpc>
              <a:defRPr sz="1200" b="0">
                <a:solidFill>
                  <a:srgbClr val="D0D0D8"/>
                </a:solidFill>
                <a:latin typeface="PingFang SC"/>
              </a:defRPr>
            </a:pPr>
            <a:r>
              <a:t>性能优化 · 新功能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3291840"/>
            <a:ext cx="2468880" cy="155448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338328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400" b="1">
                <a:solidFill>
                  <a:srgbClr val="8B5CF6"/>
                </a:solidFill>
                <a:latin typeface="PingFang SC"/>
              </a:defRPr>
            </a:pPr>
            <a:r>
              <a:t>25%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84048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FFFFFF"/>
                </a:solidFill>
                <a:latin typeface="PingFang SC"/>
              </a:defRPr>
            </a:pPr>
            <a:r>
              <a:t>运营推广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4206240"/>
            <a:ext cx="2103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79"/>
              </a:lnSpc>
              <a:defRPr sz="1200" b="0">
                <a:solidFill>
                  <a:srgbClr val="D0D0D8"/>
                </a:solidFill>
                <a:latin typeface="PingFang SC"/>
              </a:defRPr>
            </a:pPr>
            <a:r>
              <a:t>校园推广 · 社群运营</a:t>
            </a:r>
          </a:p>
          <a:p>
            <a:pPr algn="ctr">
              <a:lnSpc>
                <a:spcPts val="1679"/>
              </a:lnSpc>
              <a:defRPr sz="1200" b="0">
                <a:solidFill>
                  <a:srgbClr val="D0D0D8"/>
                </a:solidFill>
                <a:latin typeface="PingFang SC"/>
              </a:defRPr>
            </a:pPr>
            <a:r>
              <a:t>内容制作 · 活动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3291840"/>
            <a:ext cx="2468880" cy="155448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338328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400" b="1">
                <a:solidFill>
                  <a:srgbClr val="06B6D4"/>
                </a:solidFill>
                <a:latin typeface="PingFang SC"/>
              </a:defRPr>
            </a:pPr>
            <a:r>
              <a:t>20%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84048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FFFFFF"/>
                </a:solidFill>
                <a:latin typeface="PingFang SC"/>
              </a:defRPr>
            </a:pPr>
            <a:r>
              <a:t>基础设施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206240"/>
            <a:ext cx="2103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79"/>
              </a:lnSpc>
              <a:defRPr sz="1200" b="0">
                <a:solidFill>
                  <a:srgbClr val="D0D0D8"/>
                </a:solidFill>
                <a:latin typeface="PingFang SC"/>
              </a:defRPr>
            </a:pPr>
            <a:r>
              <a:t>云服务 · LLM API</a:t>
            </a:r>
          </a:p>
          <a:p>
            <a:pPr algn="ctr">
              <a:lnSpc>
                <a:spcPts val="1679"/>
              </a:lnSpc>
              <a:defRPr sz="1200" b="0">
                <a:solidFill>
                  <a:srgbClr val="D0D0D8"/>
                </a:solidFill>
                <a:latin typeface="PingFang SC"/>
              </a:defRPr>
            </a:pPr>
            <a:r>
              <a:t>图数据库 · CDN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3291840"/>
            <a:ext cx="2468880" cy="155448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338328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400" b="1">
                <a:solidFill>
                  <a:srgbClr val="10B981"/>
                </a:solidFill>
                <a:latin typeface="PingFang SC"/>
              </a:defRPr>
            </a:pPr>
            <a:r>
              <a:t>15%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384048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FFFFFF"/>
                </a:solidFill>
                <a:latin typeface="PingFang SC"/>
              </a:defRPr>
            </a:pPr>
            <a:r>
              <a:t>团队建设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4206240"/>
            <a:ext cx="2103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79"/>
              </a:lnSpc>
              <a:defRPr sz="1200" b="0">
                <a:solidFill>
                  <a:srgbClr val="D0D0D8"/>
                </a:solidFill>
                <a:latin typeface="PingFang SC"/>
              </a:defRPr>
            </a:pPr>
            <a:r>
              <a:t>核心招聘 · 培训</a:t>
            </a:r>
          </a:p>
          <a:p>
            <a:pPr algn="ctr">
              <a:lnSpc>
                <a:spcPts val="1679"/>
              </a:lnSpc>
              <a:defRPr sz="1200" b="0">
                <a:solidFill>
                  <a:srgbClr val="D0D0D8"/>
                </a:solidFill>
                <a:latin typeface="PingFang SC"/>
              </a:defRPr>
            </a:pPr>
            <a:r>
              <a:t>差旅 · 办公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0" y="5212080"/>
            <a:ext cx="9418320" cy="18288"/>
          </a:xfrm>
          <a:prstGeom prst="rect">
            <a:avLst/>
          </a:prstGeom>
          <a:solidFill>
            <a:srgbClr val="F5C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394960"/>
            <a:ext cx="10332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600" b="1">
                <a:solidFill>
                  <a:srgbClr val="F5C818"/>
                </a:solidFill>
                <a:latin typeface="PingFang SC"/>
              </a:defRPr>
            </a:pPr>
            <a:r>
              <a:t>「 让每一位学生都拥有自己的知识大陆 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FFFFFF"/>
                </a:solidFill>
                <a:latin typeface="Helvetica Neue"/>
              </a:defRPr>
            </a:pPr>
            <a:r>
              <a:t>TERRANOVA  ·  新大陆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6400800"/>
            <a:ext cx="10332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707088"/>
                </a:solidFill>
                <a:latin typeface="PingFang SC"/>
              </a:defRPr>
            </a:pPr>
            <a:r>
              <a:t>联系方式：[请填写邮箱/微信]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07088"/>
                </a:solidFill>
                <a:latin typeface="PingFang SC"/>
              </a:defRPr>
            </a:pPr>
            <a:r>
              <a:t>16/16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A1A1A"/>
                </a:solidFill>
              </a:defRPr>
            </a:pPr>
            <a:r>
              <a:t>核心挑战与应对策略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1188720"/>
            <a:ext cx="5303520" cy="2194560"/>
          </a:xfrm>
          <a:prstGeom prst="rect">
            <a:avLst/>
          </a:prstGeom>
          <a:solidFill>
            <a:srgbClr val="F5F5FA"/>
          </a:solidFill>
        </p:spPr>
        <p:txBody>
          <a:bodyPr wrap="square" lIns="137160" rIns="137160" tIns="137160">
            <a:spAutoFit/>
          </a:bodyPr>
          <a:lstStyle/>
          <a:p>
            <a:pPr>
              <a:defRPr sz="1600" b="1">
                <a:solidFill>
                  <a:srgbClr val="E63946"/>
                </a:solidFill>
              </a:defRPr>
            </a:pPr>
            <a:r>
              <a:t>01 冷启动：图谱构建成本高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100">
                <a:solidFill>
                  <a:srgbClr val="6B6B6B"/>
                </a:solidFill>
              </a:defRPr>
            </a:pPr>
            <a:r>
              <a:t>❌ 每个专业需要手工梳理数百个知识点+依赖关系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100">
                <a:solidFill>
                  <a:srgbClr val="1A1A1A"/>
                </a:solidFill>
              </a:defRPr>
            </a:pPr>
            <a:r>
              <a:t>✓ 先做CS专业，用GPT-4辅助生成初版图谱</a:t>
            </a:r>
            <a:br/>
            <a:r>
              <a:t>✓ 众包模式：让学长贡献路径，反哺图谱</a:t>
            </a:r>
            <a:br/>
            <a:r>
              <a:t>✓ 与课程教师合作，复用教学大纲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1188720"/>
            <a:ext cx="5303520" cy="2194560"/>
          </a:xfrm>
          <a:prstGeom prst="rect">
            <a:avLst/>
          </a:prstGeom>
          <a:solidFill>
            <a:srgbClr val="F5F5FA"/>
          </a:solidFill>
        </p:spPr>
        <p:txBody>
          <a:bodyPr wrap="square" lIns="137160" rIns="137160" tIns="137160">
            <a:spAutoFit/>
          </a:bodyPr>
          <a:lstStyle/>
          <a:p>
            <a:pPr>
              <a:defRPr sz="1600" b="1">
                <a:solidFill>
                  <a:srgbClr val="E63946"/>
                </a:solidFill>
              </a:defRPr>
            </a:pPr>
            <a:r>
              <a:t>02 用户留存：新鲜感过后如何保持？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100">
                <a:solidFill>
                  <a:srgbClr val="6B6B6B"/>
                </a:solidFill>
              </a:defRPr>
            </a:pPr>
            <a:r>
              <a:t>❌ 游戏化容易沦为噱头，3个月后用户流失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100">
                <a:solidFill>
                  <a:srgbClr val="1A1A1A"/>
                </a:solidFill>
              </a:defRPr>
            </a:pPr>
            <a:r>
              <a:t>✓ 每周新暗道发现机制（持续惊喜）</a:t>
            </a:r>
            <a:br/>
            <a:r>
              <a:t>✓ 寝室PK排行榜（社交压力）</a:t>
            </a:r>
            <a:br/>
            <a:r>
              <a:t>✓ 学习数据可视化（成长曲线成就感）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657600"/>
            <a:ext cx="5303520" cy="2194560"/>
          </a:xfrm>
          <a:prstGeom prst="rect">
            <a:avLst/>
          </a:prstGeom>
          <a:solidFill>
            <a:srgbClr val="FAF8F5"/>
          </a:solidFill>
        </p:spPr>
        <p:txBody>
          <a:bodyPr wrap="square" lIns="137160" rIns="137160" tIns="137160">
            <a:spAutoFit/>
          </a:bodyPr>
          <a:lstStyle/>
          <a:p>
            <a:pPr>
              <a:defRPr sz="1600" b="1">
                <a:solidFill>
                  <a:srgbClr val="E63946"/>
                </a:solidFill>
              </a:defRPr>
            </a:pPr>
            <a:r>
              <a:t>03 变现转化：免费用户如何转付费？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100">
                <a:solidFill>
                  <a:srgbClr val="6B6B6B"/>
                </a:solidFill>
              </a:defRPr>
            </a:pPr>
            <a:r>
              <a:t>❌ 学生付费意愿低，免费版功能太强会降低ARPU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100">
                <a:solidFill>
                  <a:srgbClr val="1A1A1A"/>
                </a:solidFill>
              </a:defRPr>
            </a:pPr>
            <a:r>
              <a:t>✓ AI问答次数限制（Free 3次/天 vs Pro无限）</a:t>
            </a:r>
            <a:br/>
            <a:r>
              <a:t>✓ 高级学习报告（薄弱路径分析）付费墙</a:t>
            </a:r>
            <a:br/>
            <a:r>
              <a:t>✓ 组队探索功能 Pro 独享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3657600"/>
            <a:ext cx="5303520" cy="2194560"/>
          </a:xfrm>
          <a:prstGeom prst="rect">
            <a:avLst/>
          </a:prstGeom>
          <a:solidFill>
            <a:srgbClr val="FAF8F5"/>
          </a:solidFill>
        </p:spPr>
        <p:txBody>
          <a:bodyPr wrap="square" lIns="137160" rIns="137160" tIns="137160">
            <a:spAutoFit/>
          </a:bodyPr>
          <a:lstStyle/>
          <a:p>
            <a:pPr>
              <a:defRPr sz="1600" b="1">
                <a:solidFill>
                  <a:srgbClr val="E63946"/>
                </a:solidFill>
              </a:defRPr>
            </a:pPr>
            <a:r>
              <a:t>04 技术挑战：图谱规模与性能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100">
                <a:solidFill>
                  <a:srgbClr val="6B6B6B"/>
                </a:solidFill>
              </a:defRPr>
            </a:pPr>
            <a:r>
              <a:t>❌ 10个专业×500知识点 = 5000节点，查询延迟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100">
                <a:solidFill>
                  <a:srgbClr val="1A1A1A"/>
                </a:solidFill>
              </a:defRPr>
            </a:pPr>
            <a:r>
              <a:t>✓ Neo4j图数据库（天然支持图遍历）</a:t>
            </a:r>
            <a:br/>
            <a:r>
              <a:t>✓ 热路径缓存（Redis）</a:t>
            </a:r>
            <a:br/>
            <a:r>
              <a:t>✓ 前端渐进式加载（按需渲染迷雾）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