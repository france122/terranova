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大家好！我是 XX，今天要为大家介绍的项目叫做 Terranova——新大陆。</a:t>
            </a:r>
          </a:p>
          <a:p/>
          <a:p>
            <a:r>
              <a:t>想象一下，如果你的大学专业不是一堆枯燥的课表，而是一块等待你去探索的神秘大陆——每学会一个知识点，周围的迷雾就会消散一点，露出新的风景。这就是我们在做的事。</a:t>
            </a:r>
          </a:p>
          <a:p/>
          <a:p>
            <a:r>
              <a:t>[节奏提示] 停顿 2 秒，让观众消化画面感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这是我自己大一时的真实经历。（停顿）</a:t>
            </a:r>
          </a:p>
          <a:p/>
          <a:p>
            <a:r>
              <a:t>我相信在座很多同学也有过类似的感受——学完一门课之后，完全不知道下一步该往哪走。</a:t>
            </a:r>
          </a:p>
          <a:p/>
          <a:p>
            <a:r>
              <a:t>我们做了 300 多份问卷，发现这不是个例：68% 的同学表示不清楚课程之间的先后关系，54% 在学期中出现过倦怠...</a:t>
            </a:r>
          </a:p>
          <a:p/>
          <a:p>
            <a:r>
              <a:t>[过渡] 那这个问题有没有人在解决呢？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我们做了 327 份有效问卷和 20 场一对一访谈。</a:t>
            </a:r>
          </a:p>
          <a:p/>
          <a:p>
            <a:r>
              <a:t>核心发现：排名第一的痛点是「路径迷茫」——68% 的同学说不清楚课程之间到底是什么关系。第二是动力缺失，第三是知识孤岛。</a:t>
            </a:r>
          </a:p>
          <a:p/>
          <a:p>
            <a:r>
              <a:t>关键验证：73% 的同学表示愿意为真正有效的学习工具付费。这给了我们信心。</a:t>
            </a:r>
          </a:p>
          <a:p/>
          <a:p>
            <a:r>
              <a:t>[过渡] 那我们具体是怎么解决的呢？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总结来看，这 4 个痛点有一个共同的根因：大学课程体系的知识结构，从来没有被建模和可视化过。</a:t>
            </a:r>
          </a:p>
          <a:p/>
          <a:p>
            <a:r>
              <a:t>如果我们能把整个专业的知识体系变成一张可交互的地图——课程间的前后依赖、跨课关联全部可见——那这 4 个问题就能同时解决。</a:t>
            </a:r>
          </a:p>
          <a:p/>
          <a:p>
            <a:r>
              <a:t>[过渡] 这就是 Terranova 在做的事。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我们的解法有三个支柱，缺一不可：</a:t>
            </a:r>
          </a:p>
          <a:p/>
          <a:p>
            <a:r>
              <a:t>第一，知识图谱——把课程体系用图数据库建模，课程、章节、知识点之间的前后依赖和关联关系全部结构化。这解决路径迷茫。</a:t>
            </a:r>
          </a:p>
          <a:p/>
          <a:p>
            <a:r>
              <a:t>第二，游戏化引擎——把图谱渲染成 RPG 探索地图，学一个知识点就驱散周围的迷雾，加上任务、成就、排行。这解决动力缺失。</a:t>
            </a:r>
          </a:p>
          <a:p/>
          <a:p>
            <a:r>
              <a:t>第三，AI 辅导——基于图谱的上下文，用大模型给每个知识点生成讲解，推荐学习路径。这解决知识孤岛。</a:t>
            </a:r>
          </a:p>
          <a:p/>
          <a:p>
            <a:r>
              <a:t>[强调] 市面上有人做知识图谱，有人做游戏化，有人做 AI 教育——但把三者融为一体的，只有我们。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我来快速走一遍用户体验：</a:t>
            </a:r>
          </a:p>
          <a:p/>
          <a:p>
            <a:r>
              <a:t>注册后选择自己的专业大陆，比如「计算机科学」。进入后你只能看到迷雾中露出的起始节点。</a:t>
            </a:r>
          </a:p>
          <a:p/>
          <a:p>
            <a:r>
              <a:t>你点进去学习——阅读 AI 生成的讲解，做几道题——达到 3 星，迷雾消散，周围的新节点露出轮廓。</a:t>
            </a:r>
          </a:p>
          <a:p/>
          <a:p>
            <a:r>
              <a:t>关键时刻来了——当你学到某个知识点，突然地图上动画展示一条「暗道」被发现——比如数据结构的 B+ 树和数据库的索引原理之间有一条跨课程通道！这个惊喜感，就是我们的 Aha Moment。</a:t>
            </a:r>
          </a:p>
          <a:p/>
          <a:p>
            <a:r>
              <a:t>调研显示，体验过这个暗道机制的用户，留存率提高了 3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让我展开三个核心机制：</a:t>
            </a:r>
          </a:p>
          <a:p/>
          <a:p>
            <a:r>
              <a:t>第一个是迷雾系统——每个知识点有 5 种状态，你学会一个，周围的迷雾就消散一层。这种「逐步开拓」的感觉非常上瘾。</a:t>
            </a:r>
          </a:p>
          <a:p/>
          <a:p>
            <a:r>
              <a:t>第二个是暗道——这是我们最 cool 的功能。当你学完 B+ 树，突然地图上出现一条通往数据库课程的隐藏通道！跨课程的知识原来是相通的！这个惊喜感是传统工具完全给不了的。</a:t>
            </a:r>
          </a:p>
          <a:p/>
          <a:p>
            <a:r>
              <a:t>第三个是激励循环——任务+成就+排行形成完整闭环。你不是一个人在学，你的好友在看你的进度，你的队友在等你协作。</a:t>
            </a:r>
          </a:p>
          <a:p/>
          <a:p>
            <a:r>
              <a:t>[强调] 这不是简单地给学习「加游戏元素」——这是从底层重新设计学习体验。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这些不是设计稿，是我们已经开发完成的真实产品。</a:t>
            </a:r>
          </a:p>
          <a:p/>
          <a:p>
            <a:r>
              <a:t>上排是课程大陆的地图素材——每门课有自己的主题风格：森林、火山...</a:t>
            </a:r>
          </a:p>
          <a:p>
            <a:r>
              <a:t>下排是实际运行的网站界面：登录页、课程地图、排行榜、个人中心。</a:t>
            </a:r>
          </a:p>
          <a:p/>
          <a:p>
            <a:r>
              <a:t>整个系统已经完整可用。不是 PPT 创业，是产品已经能用了。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技术架构分四层——前端用 React + D3.js 渲染地图，后端 FastAPI 提供 15+ 接口，图谱层用 Neo4j 做知识建模，数据层 SQLite 存用户数据。</a:t>
            </a:r>
          </a:p>
          <a:p/>
          <a:p>
            <a:r>
              <a:t>我想强调三个技术亮点：</a:t>
            </a:r>
          </a:p>
          <a:p>
            <a:r>
              <a:t>1. 全栈自研——不是套 template，核心算法全部自己实现</a:t>
            </a:r>
          </a:p>
          <a:p>
            <a:r>
              <a:t>2. 图谱驱动——推荐算法不是协同过滤，是直接在图结构上做拓扑计算</a:t>
            </a:r>
          </a:p>
          <a:p>
            <a:r>
              <a:t>3. AI 原生——LLM 不是一个"问答机器人"，而是和知识图谱深度耦合的内容引擎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看竞品对比——MOOC 只有线性视频，Notion 可以手动整理知识但没有推荐，Anki 只做记忆卡片。</a:t>
            </a:r>
          </a:p>
          <a:p/>
          <a:p>
            <a:r>
              <a:t>没有任何一个产品同时做到了「知识结构化 + 游戏化 + AI」三合一。</a:t>
            </a:r>
          </a:p>
          <a:p/>
          <a:p>
            <a:r>
              <a:t>我们的壁垒在哪？</a:t>
            </a:r>
          </a:p>
          <a:p>
            <a:r>
              <a:t>1. 系统集成——三者深度耦合，不是简单叠加</a:t>
            </a:r>
          </a:p>
          <a:p>
            <a:r>
              <a:t>2. 数据飞轮——用户越多，路径数据越丰富，推荐越准</a:t>
            </a:r>
          </a:p>
          <a:p>
            <a:r>
              <a:t>3. 网络效应——社交、排行、组队让产品越用越有价值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市场机会：中国在线教育市场超 6000 亿，其中高校学习工具赛道 300 亿。</a:t>
            </a:r>
          </a:p>
          <a:p/>
          <a:p>
            <a:r>
              <a:t>但关键数据是——游戏化学习在高校的渗透率接近零！这是一片蓝海。</a:t>
            </a:r>
          </a:p>
          <a:p/>
          <a:p>
            <a:r>
              <a:t>4700 万在校大学生就是我们的潜在用户池，73% 愿意付费。加上国家教育数字化转型的政策推动，时机非常好。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商业模式采用 Freemium 策略：</a:t>
            </a:r>
          </a:p>
          <a:p/>
          <a:p>
            <a:r>
              <a:t>免费版提供基础地图和有限 AI 问答，让用户体验核心价值。Pro 版 19.9 元/月，解锁全部功能。团队版支持组队。</a:t>
            </a:r>
          </a:p>
          <a:p/>
          <a:p>
            <a:r>
              <a:t>B2B 端面向高校——定制课程图谱、学情看板，每校每年 5-10 万。</a:t>
            </a:r>
          </a:p>
          <a:p/>
          <a:p>
            <a:r>
              <a:t>关键指标：Pro 版年 ARPU 239 元，获客成本控制在 30 以内（校内裂变），LTV/CAC 超过 16 倍，经济模型非常健康。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我们的增长不靠烧钱投放，而是三个自然引擎：</a:t>
            </a:r>
          </a:p>
          <a:p/>
          <a:p>
            <a:r>
              <a:t>第一，校内裂变——组队探索机制天然带来邀请行为。一个人开通团队版，整个寝室都会收到邀请。</a:t>
            </a:r>
          </a:p>
          <a:p/>
          <a:p>
            <a:r>
              <a:t>第二，内容获客——我们可以为每个专业自动生成「知识大陆地图海报」，这种视觉内容在社交媒体上天然有传播力。地图动画在短视频平台也很吸睛。</a:t>
            </a:r>
          </a:p>
          <a:p/>
          <a:p>
            <a:r>
              <a:t>第三，高校合作——和教师合作试点，让图谱变成课程辅助工具，这是最有壁垒的获客渠道。</a:t>
            </a:r>
          </a:p>
          <a:p/>
          <a:p>
            <a:r>
              <a:t>[数据] 目标：6 个月 200 人测试 → 12 个月 2000 用户 → 18 个月破万。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我们的路线图分 4 个阶段：</a:t>
            </a:r>
          </a:p>
          <a:p/>
          <a:p>
            <a:r>
              <a:t>Phase 1 我们已经在这里了——MVP 完成，计算机科学图谱已建好，核心功能可运行。下一步是校内 200 人测试。</a:t>
            </a:r>
          </a:p>
          <a:p/>
          <a:p>
            <a:r>
              <a:t>Phase 2 是产品验证——接入 LLM、扩展专业、冲到 2000 用户。</a:t>
            </a:r>
          </a:p>
          <a:p/>
          <a:p>
            <a:r>
              <a:t>Phase 3 商业化——付费上线 + 高校合作。</a:t>
            </a:r>
          </a:p>
          <a:p/>
          <a:p>
            <a:r>
              <a:t>Phase 4 规模扩展——多校推广，寻求 Pre-A。</a:t>
            </a:r>
          </a:p>
          <a:p/>
          <a:p>
            <a:r>
              <a:t>关键判断标准：Phase 2 结束时月留存超过 40%、NPS 超过 50，就证明产品 market fit，启动商业化。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我们是一支 4 人团队——[介绍各成员]。</a:t>
            </a:r>
          </a:p>
          <a:p/>
          <a:p>
            <a:r>
              <a:t>我想特别强调的是：我们团队本身就是目标用户。我们自己就是大学生，我们自己就经历过这些痛点。所以我们不是在猜测用户需要什么，而是在解决自己的问题。</a:t>
            </a:r>
          </a:p>
          <a:p/>
          <a:p>
            <a:r>
              <a:t>另外，MVP 已经跑通——这证明我们的执行力。不是 PPT 创业，是产品已经能用了。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[演讲稿]</a:t>
            </a:r>
          </a:p>
          <a:p>
            <a:r>
              <a:t>最后，我们的请求：种子轮 100 万，出让 10%。</a:t>
            </a:r>
          </a:p>
          <a:p/>
          <a:p>
            <a:r>
              <a:t>这笔钱 40% 用于产品研发——主要是 LLM 接入和图谱扩展；25% 校园推广；20% 基础设施；15% 团队建设。</a:t>
            </a:r>
          </a:p>
          <a:p/>
          <a:p>
            <a:r>
              <a:t>[总结] 我们相信，大学的知识体系不应该是一张平铺的课表，而应该是一片等待探索的大陆。我们已经把它做出来了，现在需要你们的支持把它推向更多学生。</a:t>
            </a:r>
          </a:p>
          <a:p/>
          <a:p>
            <a:r>
              <a:t>[结束] Terranova，新大陆——让每一位学生都拥有自己的知识大陆。谢谢！</a:t>
            </a:r>
          </a:p>
          <a:p/>
          <a:p>
            <a:r>
              <a:t>[Q&amp;A准备]</a:t>
            </a:r>
          </a:p>
          <a:p>
            <a:r>
              <a:t>- 如何保证图谱质量？→ 与教师合作 + 用户反馈迭代</a:t>
            </a:r>
          </a:p>
          <a:p>
            <a:r>
              <a:t>- 如何防止游戏化喧宾夺主？→ 核心奖励只来自学习行为</a:t>
            </a:r>
          </a:p>
          <a:p>
            <a:r>
              <a:t>- 凭什么学生会坚持用？→ 社交绑定 + 进度可视化沉没成本</a:t>
            </a:r>
          </a:p>
          <a:p>
            <a:r>
              <a:t>- LLM 成本怎么控制？→ 图谱缓存 + 按需生成 + 批量预处理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54864" cy="365760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TERRANOVA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新  大  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566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基于知识图谱的游戏化智能学习系统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3891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6B6D4"/>
                </a:solidFill>
                <a:latin typeface="PingFang SC" panose="020B0400000000000000" charset="-122"/>
              </a:defRPr>
            </a:pPr>
            <a:r>
              <a:t>让每一位学生都拥有自己的知识大陆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5029200"/>
            <a:ext cx="3200400" cy="18288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30352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大学生创新创业项目  ·  种子轮路演</a:t>
            </a:r>
          </a:p>
          <a:p>
            <a:pPr algn="l">
              <a:lnSpc>
                <a:spcPts val="2340"/>
              </a:lnSpc>
              <a:defRPr sz="13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2026 年 6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2/16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0" b="1">
                <a:solidFill>
                  <a:srgbClr val="F43F5E"/>
                </a:solidFill>
                <a:latin typeface="Georgia" panose="02040502050405090303"/>
              </a:defRPr>
            </a:pPr>
            <a: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43F5E"/>
                </a:solidFill>
                <a:latin typeface="Helvetica Neue" panose="02000503000000020004"/>
              </a:defRPr>
            </a:pPr>
            <a:r>
              <a:t>Without Terranova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大一结束，我学完了 C 语言和数据结构，</a:t>
            </a:r>
            <a:br/>
            <a:r>
              <a:t>但完全不知道下一步该学什么。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操作系统？数据库？计网？算法？</a:t>
            </a:r>
            <a:br/>
            <a:r>
              <a:t>每个学长的建议都不一样，我像站在迷雾里。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389120"/>
            <a:ext cx="9418320" cy="13716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这不只是一个人的故事——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3B82F6"/>
                </a:solidFill>
                <a:latin typeface="Helvetica Neue" panose="02000503000000020004"/>
              </a:defRPr>
            </a:pPr>
            <a:r>
              <a:t>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52578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的大学生表示「不清楚课程间的先后关系」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2120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8B5CF6"/>
                </a:solidFill>
                <a:latin typeface="Helvetica Neue" panose="02000503000000020004"/>
              </a:defRPr>
            </a:pPr>
            <a:r>
              <a:t>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2578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在学期中出现过「学不下去的倦怠期」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21208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F97316"/>
                </a:solidFill>
                <a:latin typeface="Helvetica Neue" panose="02000503000000020004"/>
              </a:defRPr>
            </a:pPr>
            <a:r>
              <a:t>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2578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认为「跨课程知识串不起来」是最大困扰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目标用户与调研发现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基于 300+ 份问卷调研 &amp; 20 场用户深度访谈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核心用户画像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475488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大一~大三本科生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2432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正在经历课程体系学习的主力人群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475488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计算机/工科优先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3016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课程依赖关系最复杂，痛感最强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475488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976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有一定游戏经历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63600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对游戏化交互不排斥，容易被激励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475488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34924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035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对学习效率有追求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64184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愿意尝试新工具，而非被动听课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6459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调研核心发现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194560"/>
            <a:ext cx="548640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2194560"/>
            <a:ext cx="54864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2860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痛点 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286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路径迷茫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3347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68% 不知道课程间先后关系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2423160"/>
            <a:ext cx="777240" cy="347472"/>
          </a:xfrm>
          <a:prstGeom prst="roundRect">
            <a:avLst>
              <a:gd name="adj" fmla="val 15000"/>
            </a:avLst>
          </a:prstGeom>
          <a:solidFill>
            <a:srgbClr val="3B82F6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2450592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最高频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200400"/>
            <a:ext cx="548640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3200400"/>
            <a:ext cx="54864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2918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痛点 #2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291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动力缺失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63931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54% 出现过学期中倦怠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3429000"/>
            <a:ext cx="777240" cy="347472"/>
          </a:xfrm>
          <a:prstGeom prst="roundRect">
            <a:avLst>
              <a:gd name="adj" fmla="val 15000"/>
            </a:avLst>
          </a:prstGeom>
          <a:solidFill>
            <a:srgbClr val="8B5CF6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0" y="3456432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最致命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206240"/>
            <a:ext cx="548640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420624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2976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7316"/>
                </a:solidFill>
                <a:latin typeface="PingFang SC" panose="020B0400000000000000" charset="-122"/>
              </a:defRPr>
            </a:pPr>
            <a:r>
              <a:t>痛点 #3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2976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知识孤岛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64515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71% 感觉跨课知识串不起来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4434840"/>
            <a:ext cx="777240" cy="347472"/>
          </a:xfrm>
          <a:prstGeom prst="roundRect">
            <a:avLst>
              <a:gd name="adj" fmla="val 15000"/>
            </a:avLst>
          </a:prstGeom>
          <a:solidFill>
            <a:srgbClr val="F97316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4462272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最根本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5212080"/>
            <a:ext cx="548640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521208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5303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验证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5303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付费意愿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65099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73% 愿意为有效学习工具付费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15600" y="5440680"/>
            <a:ext cx="777240" cy="347472"/>
          </a:xfrm>
          <a:prstGeom prst="roundRect">
            <a:avLst>
              <a:gd name="adj" fmla="val 15000"/>
            </a:avLst>
          </a:prstGeom>
          <a:solidFill>
            <a:srgbClr val="10B981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0" y="5468112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商业验证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数据来源：2026年3月校内问卷调研（N=327） + 深度用户访谈（N=20）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4 大痛点，1 个根因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传统学习工具缺少「知识结构感知」能力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4/16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06040" cy="33832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1097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3B82F6"/>
                </a:solidFill>
                <a:latin typeface="Helvetica Neue" panose="02000503000000020004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路径迷茫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71800"/>
            <a:ext cx="10972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21488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课程之间的先后依赖关系不可见</a:t>
            </a:r>
          </a:p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学完一门不知道下一步该学什么</a:t>
            </a:r>
          </a:p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选课全靠学长口口相传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06040" cy="33832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1097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8B5CF6"/>
                </a:solidFill>
                <a:latin typeface="Helvetica Neue" panose="02000503000000020004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1460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动力缺失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971800"/>
            <a:ext cx="1097280" cy="228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200400"/>
            <a:ext cx="21488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学习过程缺少即时反馈和成就感</a:t>
            </a:r>
          </a:p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只有期末考一次大反馈</a:t>
            </a:r>
          </a:p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中途容易放弃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45920"/>
            <a:ext cx="2606040" cy="33832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74520"/>
            <a:ext cx="1097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97316"/>
                </a:solidFill>
                <a:latin typeface="Helvetica Neue" panose="02000503000000020004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1460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知识孤岛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971800"/>
            <a:ext cx="109728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200400"/>
            <a:ext cx="21488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跨课程的知识关联完全不可见</a:t>
            </a:r>
          </a:p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数据结构的图 vs 离散数学的图</a:t>
            </a:r>
          </a:p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学了很多但串不起来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645920"/>
            <a:ext cx="2606040" cy="33832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874520"/>
            <a:ext cx="1097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43F5E"/>
                </a:solidFill>
                <a:latin typeface="Helvetica Neue" panose="02000503000000020004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51460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反馈真空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971800"/>
            <a:ext cx="1097280" cy="228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3200400"/>
            <a:ext cx="21488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无法感知自己的成长轨迹</a:t>
            </a:r>
          </a:p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不知道自己在全图谱中的位置</a:t>
            </a:r>
          </a:p>
          <a:p>
            <a:pPr algn="l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缺少可视化的进度感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10881360" cy="914400"/>
          </a:xfrm>
          <a:prstGeom prst="roundRect">
            <a:avLst>
              <a:gd name="adj" fmla="val 3000"/>
            </a:avLst>
          </a:prstGeom>
          <a:solidFill>
            <a:srgbClr val="181208"/>
          </a:solidFill>
          <a:ln w="12700">
            <a:solidFill>
              <a:srgbClr val="F5C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40680"/>
            <a:ext cx="10241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根本原因：课程体系的「知识结构」从未被建模和可视化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如果能把整个专业的知识结构变成一张可交互的地图，以上 4 个痛点将同时解决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Terranova 的解法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三合一系统，缺一不可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5/16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知识图谱  ×  游戏化探索  ×  AI 个性化  =  Terranova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51760"/>
            <a:ext cx="3291840" cy="35661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8803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260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知识图谱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3375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将课程→章节→知识点 建模为有向图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840480"/>
            <a:ext cx="2834640" cy="13716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834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4级节点结构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4种关系类型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自动推理路径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669280"/>
            <a:ext cx="2834640" cy="365760"/>
          </a:xfrm>
          <a:prstGeom prst="roundRect">
            <a:avLst>
              <a:gd name="adj" fmla="val 3000"/>
            </a:avLst>
          </a:prstGeom>
          <a:solidFill>
            <a:srgbClr val="0A12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96712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解决：路径迷茫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651760"/>
            <a:ext cx="3291840" cy="35661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28803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RPG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9260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游戏化引擎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3375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把图谱渲染为 可探索的 RPG 地图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840480"/>
            <a:ext cx="2834640" cy="13716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023360"/>
            <a:ext cx="2834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迷雾机制 (FoW)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任务/成就/社交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排行+组队探索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669280"/>
            <a:ext cx="2834640" cy="365760"/>
          </a:xfrm>
          <a:prstGeom prst="roundRect">
            <a:avLst>
              <a:gd name="adj" fmla="val 3000"/>
            </a:avLst>
          </a:prstGeom>
          <a:solidFill>
            <a:srgbClr val="0A121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5696712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解决：动力缺失+反馈真空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651760"/>
            <a:ext cx="3291840" cy="35661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0" y="288036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9260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AI 智能辅导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3375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LLM 基于图谱上下文 生成个性化内容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840480"/>
            <a:ext cx="2834640" cy="13716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023360"/>
            <a:ext cx="2834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知识点讲解生成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Graph-RAG 问答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薄弱路径推荐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669280"/>
            <a:ext cx="2834640" cy="365760"/>
          </a:xfrm>
          <a:prstGeom prst="roundRect">
            <a:avLst>
              <a:gd name="adj" fmla="val 3000"/>
            </a:avLst>
          </a:prstGeom>
          <a:solidFill>
            <a:srgbClr val="0A121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696712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6B6D4"/>
                </a:solidFill>
                <a:latin typeface="PingFang SC" panose="020B0400000000000000" charset="-122"/>
              </a:defRPr>
            </a:pPr>
            <a:r>
              <a:t>解决：知识孤岛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用户体验旅程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从注册到沉浸探索，5 分钟内产生「再来一个」的冲动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698480" cy="27432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1308" y="2971800"/>
            <a:ext cx="329184" cy="32918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1308" y="2990088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注册选域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69164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703320"/>
            <a:ext cx="1472184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选择专业大陆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如「计算机科学」</a:t>
            </a:r>
          </a:p>
        </p:txBody>
      </p:sp>
      <p:sp>
        <p:nvSpPr>
          <p:cNvPr id="12" name="Oval 11"/>
          <p:cNvSpPr/>
          <p:nvPr/>
        </p:nvSpPr>
        <p:spPr>
          <a:xfrm>
            <a:off x="3122676" y="2971800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2676" y="2990088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19456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初始探索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3566160"/>
            <a:ext cx="169164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3703320"/>
            <a:ext cx="1472184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从入门知识开始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驱散第一片迷雾</a:t>
            </a:r>
          </a:p>
        </p:txBody>
      </p:sp>
      <p:sp>
        <p:nvSpPr>
          <p:cNvPr id="17" name="Oval 16"/>
          <p:cNvSpPr/>
          <p:nvPr/>
        </p:nvSpPr>
        <p:spPr>
          <a:xfrm>
            <a:off x="4924044" y="2971800"/>
            <a:ext cx="329184" cy="32918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4044" y="2990088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219456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6B6D4"/>
                </a:solidFill>
                <a:latin typeface="PingFang SC" panose="020B0400000000000000" charset="-122"/>
              </a:defRPr>
            </a:pPr>
            <a:r>
              <a:t>路径推荐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2816" y="3566160"/>
            <a:ext cx="169164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3703320"/>
            <a:ext cx="1472184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AI 分析前置关系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推荐最优下一步</a:t>
            </a:r>
          </a:p>
        </p:txBody>
      </p:sp>
      <p:sp>
        <p:nvSpPr>
          <p:cNvPr id="22" name="Oval 21"/>
          <p:cNvSpPr/>
          <p:nvPr/>
        </p:nvSpPr>
        <p:spPr>
          <a:xfrm>
            <a:off x="6725412" y="29718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5412" y="2990088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4184" y="219456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学习解锁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44184" y="3566160"/>
            <a:ext cx="169164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3703320"/>
            <a:ext cx="1472184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阅读讲解 + 做题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3星评分，消散迷雾</a:t>
            </a:r>
          </a:p>
        </p:txBody>
      </p:sp>
      <p:sp>
        <p:nvSpPr>
          <p:cNvPr id="27" name="Oval 26"/>
          <p:cNvSpPr/>
          <p:nvPr/>
        </p:nvSpPr>
        <p:spPr>
          <a:xfrm>
            <a:off x="8526780" y="2971800"/>
            <a:ext cx="329184" cy="32918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6780" y="2990088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219456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97316"/>
                </a:solidFill>
                <a:latin typeface="PingFang SC" panose="020B0400000000000000" charset="-122"/>
              </a:defRPr>
            </a:pPr>
            <a:r>
              <a:t>惊喜发现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5552" y="3566160"/>
            <a:ext cx="169164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3703320"/>
            <a:ext cx="1472184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暗道出现！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跨课程关联被激活</a:t>
            </a:r>
          </a:p>
        </p:txBody>
      </p:sp>
      <p:sp>
        <p:nvSpPr>
          <p:cNvPr id="32" name="Oval 31"/>
          <p:cNvSpPr/>
          <p:nvPr/>
        </p:nvSpPr>
        <p:spPr>
          <a:xfrm>
            <a:off x="10328148" y="2971800"/>
            <a:ext cx="329184" cy="329184"/>
          </a:xfrm>
          <a:prstGeom prst="ellipse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28148" y="2990088"/>
            <a:ext cx="329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19456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成就激励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3566160"/>
            <a:ext cx="169164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56648" y="3703320"/>
            <a:ext cx="1472184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徽章 + 升级 + 排行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触发「再来一个」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用户心理：好奇 → 探索欲 → 成就感 → 「再来一个」 → 日常习惯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5577840"/>
            <a:ext cx="6675120" cy="640080"/>
          </a:xfrm>
          <a:prstGeom prst="roundRect">
            <a:avLst>
              <a:gd name="adj" fmla="val 3000"/>
            </a:avLst>
          </a:prstGeom>
          <a:solidFill>
            <a:srgbClr val="151005"/>
          </a:solidFill>
          <a:ln w="12700">
            <a:solidFill>
              <a:srgbClr val="F5C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566928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Aha Moment：首次「暗道发现」——跨课知识关联被激活时的惊喜感（步骤5）</a:t>
            </a:r>
            <a:br/>
            <a:r>
              <a:t>这是用户留存的关键转化节点，平均在第 3 次使用时触发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核心玩法机制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Fog of War + Secret Passages + Quest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7/16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6B6D4"/>
                </a:solidFill>
                <a:latin typeface="PingFang SC" panose="020B0400000000000000" charset="-122"/>
              </a:defRPr>
            </a:pPr>
            <a:r>
              <a:t>知识大陆地图实景</a:t>
            </a:r>
          </a:p>
        </p:txBody>
      </p:sp>
      <p:pic>
        <p:nvPicPr>
          <p:cNvPr id="7" name="Picture 6" descr="terranova-map-v3_0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384048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1605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PingFang SC" panose="020B0400000000000000" charset="-122"/>
              </a:defRPr>
            </a:pPr>
            <a:r>
              <a:t>迷雾系统 (Fog of War)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544568"/>
            <a:ext cx="201168" cy="201168"/>
          </a:xfrm>
          <a:prstGeom prst="ellipse">
            <a:avLst/>
          </a:prstGeom>
          <a:solidFill>
            <a:srgbClr val="707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262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完全迷雾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52628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只知道存在一片区域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9204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7375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边缘可见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87375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名称可见，内容锁定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23951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21224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已解锁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221224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前置满足，可进入学习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586984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68696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已探索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56869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完成学习，周围消雾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934456"/>
            <a:ext cx="201168" cy="201168"/>
          </a:xfrm>
          <a:prstGeom prst="ellipse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91616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已精通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91616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3星满级，点亮灯塔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1645920"/>
            <a:ext cx="3383280" cy="20116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1645920"/>
            <a:ext cx="54864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1828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暗道机制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148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跨课关联自动发现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51460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学到「B+树」后，地图上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动画展现通往「数据库索引」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的隐藏通道——跨课程惊喜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931920"/>
            <a:ext cx="3383280" cy="20116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3931920"/>
            <a:ext cx="54864" cy="2011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4114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7316"/>
                </a:solidFill>
                <a:latin typeface="PingFang SC" panose="020B0400000000000000" charset="-122"/>
              </a:defRPr>
            </a:pPr>
            <a:r>
              <a:t>任务系统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434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三重任务驱动学习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80060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每日任务：复习+学新保持节奏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挑战任务：限时路径冲刺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支线任务：暗道触发的探索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1645920"/>
            <a:ext cx="3383280" cy="20116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164592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成就体系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148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经验值+等级+徽章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51460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学徒→入门→进阶→精通→大师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里程碑/探索/稀有成就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全图谱精通「终极徽章」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3931920"/>
            <a:ext cx="3383280" cy="20116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0" y="3931920"/>
            <a:ext cx="54864" cy="2011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41148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43F5E"/>
                </a:solidFill>
                <a:latin typeface="PingFang SC" panose="020B0400000000000000" charset="-122"/>
              </a:defRPr>
            </a:pPr>
            <a:r>
              <a:t>社交竞争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434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排行+组队+插旗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80060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探索率/连续打卡/EXP排行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3~5人组队协作开拓</a:t>
            </a:r>
          </a:p>
          <a:p>
            <a:pPr algn="l">
              <a:lnSpc>
                <a:spcPts val="195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知识点首位探索者留名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943600"/>
            <a:ext cx="10972800" cy="548640"/>
          </a:xfrm>
          <a:prstGeom prst="roundRect">
            <a:avLst>
              <a:gd name="adj" fmla="val 3000"/>
            </a:avLst>
          </a:prstGeom>
          <a:solidFill>
            <a:srgbClr val="0A0E1A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正向循环：学习 → EXP + 消雾 → 成就 → 徽章 → 排行 → 更想学 → 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产品实景展示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已完成的课程大陆地图——全部来自真实产品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8/16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F5C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ranova-map-v3_0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320040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749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知识大陆总览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p-ds-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91640"/>
            <a:ext cx="3200400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34840" y="3749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数据结构·森林王国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p-cn-volca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691640"/>
            <a:ext cx="3200400" cy="1920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80" y="3749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7316"/>
                </a:solidFill>
                <a:latin typeface="PingFang SC" panose="020B0400000000000000" charset="-122"/>
              </a:defRPr>
            </a:pPr>
            <a:r>
              <a:t>计算机网络·火山大陆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26280"/>
            <a:ext cx="2606040" cy="17830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599432"/>
            <a:ext cx="2459736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5961888"/>
            <a:ext cx="24597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登录界面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4526280"/>
            <a:ext cx="2606040" cy="17830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3_world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4599432"/>
            <a:ext cx="2459736" cy="1371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46704" y="5961888"/>
            <a:ext cx="24597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课程地图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8464" y="4526280"/>
            <a:ext cx="2606040" cy="17830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6_leader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4599432"/>
            <a:ext cx="2459736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71616" y="5961888"/>
            <a:ext cx="24597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英雄排行榜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23376" y="4526280"/>
            <a:ext cx="2606040" cy="17830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7_pro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28" y="4599432"/>
            <a:ext cx="2459736" cy="1371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96528" y="5961888"/>
            <a:ext cx="24597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冒险者资料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RPG 像素风格 · React + D3.js + FastAPI + Neo4j · 全栈自研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全栈自研，MVP 已跑通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9/16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9601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前端展现层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React 19 + D3.js + Vite + 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02996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RPG像素风UI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2996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力导向图渲染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02996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SVG迷雾动画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02996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多级缩放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07208"/>
            <a:ext cx="10698480" cy="9601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807208"/>
            <a:ext cx="54864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916936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后端服务层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8269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Python FastAPI + JWT + SQLModel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035808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099816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15+ API接口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035808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099816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推荐引擎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035808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099816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任务系统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3035808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3099816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成就引擎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877056"/>
            <a:ext cx="10698480" cy="9601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3877056"/>
            <a:ext cx="54864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86784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6B6D4"/>
                </a:solidFill>
                <a:latin typeface="PingFang SC" panose="020B0400000000000000" charset="-122"/>
              </a:defRPr>
            </a:pPr>
            <a:r>
              <a:t>图谱引擎层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35254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Neo4j + NetworkX + LangChain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4105656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4169664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4级知识建模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4105656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169664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路径规划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105656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4169664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Graph-RAG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4105656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4169664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LLM讲解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946904"/>
            <a:ext cx="10698480" cy="9601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4946904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505663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数据持久层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42239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SQLite → PostgreSQL / Docker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0" y="5175504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5239512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用户&amp;进度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5175504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5239512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社交关系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5175504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5239512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学习轨迹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01200" y="5175504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A1E33"/>
          </a:solidFill>
          <a:ln w="1016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5239512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任务模板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技术亮点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61264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全栈自研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61264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非套壳，核心逻辑100%自己写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61264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图谱驱动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77840" y="61264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推荐算法直接走图拓扑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61264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AI原生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61264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LLM不是附加功能，是核心引擎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我们在「结构化 × 游戏化 × AI」交叉点上，独占蓝海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10/16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核心差异化对比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23444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707088"/>
                </a:solidFill>
                <a:latin typeface="PingFang SC" panose="020B0400000000000000" charset="-122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2011680" y="2194560"/>
            <a:ext cx="150876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2267712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MOOC/B站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132588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67712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Notion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194560"/>
            <a:ext cx="123444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226771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Anki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1783080" cy="502920"/>
          </a:xfrm>
          <a:prstGeom prst="roundRect">
            <a:avLst>
              <a:gd name="adj" fmla="val 3000"/>
            </a:avLst>
          </a:prstGeom>
          <a:solidFill>
            <a:srgbClr val="1A1E38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267712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Terranova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9748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7063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知识结构化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269748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77063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269748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77063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8844"/>
                </a:solidFill>
                <a:latin typeface="PingFang SC" panose="020B0400000000000000" charset="-122"/>
              </a:defRPr>
            </a:pPr>
            <a:r>
              <a:t>△ 手动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69748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277063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69748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77063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✓ 图谱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20040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27355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学习路径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20040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327355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固定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320040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27355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320040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327355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20040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27355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✓ 智能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70332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77647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跨课关联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370332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377647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370332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377647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8844"/>
                </a:solidFill>
                <a:latin typeface="PingFang SC" panose="020B0400000000000000" charset="-122"/>
              </a:defRPr>
            </a:pPr>
            <a:r>
              <a:t>△ 手动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0" y="370332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377647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70332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77647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✓ 自动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20624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27939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游戏化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1680" y="420624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427939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66160" y="420624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80" y="427939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37760" y="420624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83480" y="427939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基础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420624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427939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✓ 完整RPG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470916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478231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AI辅导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011680" y="4709160"/>
            <a:ext cx="150876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4782312"/>
            <a:ext cx="1417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566160" y="4709160"/>
            <a:ext cx="132588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11880" y="4782312"/>
            <a:ext cx="1234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37760" y="4709160"/>
            <a:ext cx="1234440" cy="47548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4782312"/>
            <a:ext cx="1143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4444"/>
                </a:solidFill>
                <a:latin typeface="PingFang SC" panose="020B0400000000000000" charset="-122"/>
              </a:defRPr>
            </a:pPr>
            <a:r>
              <a:t>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470916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121F12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4782312"/>
            <a:ext cx="1691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✓ 原生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16459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竞争壁垒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72400" y="2194560"/>
            <a:ext cx="3931920" cy="914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72400" y="2194560"/>
            <a:ext cx="54864" cy="91440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6720" y="22860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三合一集成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2578608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知识图谱+游戏化+AI 三者深度耦合，非简单叠加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72400" y="3291840"/>
            <a:ext cx="3931920" cy="914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72400" y="3291840"/>
            <a:ext cx="54864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46720" y="33832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图谱数据资产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3675888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随着用户增多，学习路径数据 反哺推荐算法，形成数据飞轮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72400" y="4389120"/>
            <a:ext cx="3931920" cy="914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72400" y="4389120"/>
            <a:ext cx="54864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6720" y="4480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网络效应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4773168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社交、排行、组队 用户越多体验越好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772400" y="5486400"/>
            <a:ext cx="3931920" cy="914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772400" y="548640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46720" y="5577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先发优势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46720" y="5870448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高校游戏化学习赛道 几乎空白，抢占心智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市场机会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¥6000亿在线教育市场，游戏化学习赛道方兴未艾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11/16</a:t>
            </a:r>
          </a:p>
        </p:txBody>
      </p:sp>
      <p:sp>
        <p:nvSpPr>
          <p:cNvPr id="6" name="Oval 5"/>
          <p:cNvSpPr/>
          <p:nvPr/>
        </p:nvSpPr>
        <p:spPr>
          <a:xfrm>
            <a:off x="2286000" y="1828800"/>
            <a:ext cx="4389120" cy="4389120"/>
          </a:xfrm>
          <a:prstGeom prst="ellipse">
            <a:avLst/>
          </a:prstGeom>
          <a:solidFill>
            <a:srgbClr val="3B82F6">
              <a:lumMod val="35000"/>
            </a:srgbClr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34640" y="2377440"/>
            <a:ext cx="3291840" cy="3291840"/>
          </a:xfrm>
          <a:prstGeom prst="ellipse">
            <a:avLst/>
          </a:prstGeom>
          <a:solidFill>
            <a:srgbClr val="8B5CF6">
              <a:lumMod val="35000"/>
            </a:srgbClr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74720" y="3017520"/>
            <a:ext cx="2011680" cy="2011680"/>
          </a:xfrm>
          <a:prstGeom prst="ellipse">
            <a:avLst/>
          </a:prstGeom>
          <a:solidFill>
            <a:srgbClr val="F5C818">
              <a:lumMod val="35000"/>
            </a:srgbClr>
          </a:solidFill>
          <a:ln w="25400">
            <a:solidFill>
              <a:srgbClr val="F5C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1031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TAM ¥6,000亿+  中国在线教育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00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SAM ¥300亿  高校工具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931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SOM ¥30亿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增长驱动力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94560"/>
            <a:ext cx="4389120" cy="74980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30428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4,700万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95728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在校大学生（潜在用户池）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108960"/>
            <a:ext cx="4389120" cy="74980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321868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25% 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310128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在线教育年复合增长率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023360"/>
            <a:ext cx="4389120" cy="74980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413308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73%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224528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学生愿意为学习工具付费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937760"/>
            <a:ext cx="4389120" cy="74980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504748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~0%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5138928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游戏化学习在高校的渗透率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852160"/>
            <a:ext cx="4389120" cy="749808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596188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6B6D4"/>
                </a:solidFill>
                <a:latin typeface="PingFang SC" panose="020B0400000000000000" charset="-122"/>
              </a:defRPr>
            </a:pPr>
            <a:r>
              <a:t>政策利好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6053328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教育数字化转型国家战略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Freemium → B2C 订阅 → B2B SaaS 三阶段变现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12/16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B2C 学生端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737360" cy="3200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240280"/>
            <a:ext cx="640080" cy="256032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640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免费版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单专业基础地图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0156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每日3次AI问答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85616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基础任务系统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54880"/>
            <a:ext cx="1463040" cy="365760"/>
          </a:xfrm>
          <a:prstGeom prst="roundRect">
            <a:avLst>
              <a:gd name="adj" fmla="val 3000"/>
            </a:avLst>
          </a:prstGeom>
          <a:solidFill>
            <a:srgbClr val="1A1E33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8231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¥0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2103120"/>
            <a:ext cx="1737360" cy="3200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2240280"/>
            <a:ext cx="640080" cy="256032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249424"/>
            <a:ext cx="640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6060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进阶版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0175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全专业解锁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40156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无限AI辅导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785616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高级学习报告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754880"/>
            <a:ext cx="1463040" cy="365760"/>
          </a:xfrm>
          <a:prstGeom prst="roundRect">
            <a:avLst>
              <a:gd name="adj" fmla="val 3000"/>
            </a:avLst>
          </a:prstGeom>
          <a:solidFill>
            <a:srgbClr val="1A1E33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78231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¥19.9/月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2103120"/>
            <a:ext cx="1737360" cy="320040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17720" y="2240280"/>
            <a:ext cx="640080" cy="256032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249424"/>
            <a:ext cx="640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6060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团队版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0175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组队探索功能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0156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小组数据看板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785616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协作学习空间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4754880"/>
            <a:ext cx="1463040" cy="365760"/>
          </a:xfrm>
          <a:prstGeom prst="roundRect">
            <a:avLst>
              <a:gd name="adj" fmla="val 3000"/>
            </a:avLst>
          </a:prstGeom>
          <a:solidFill>
            <a:srgbClr val="1A1E33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78231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¥39.9/月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B2B 高校/机构端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103120"/>
            <a:ext cx="53035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103120"/>
            <a:ext cx="54864" cy="1188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2128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高校教学辅助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21284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¥5-10万/年/校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2606040"/>
            <a:ext cx="4663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定制课程图谱 · 学情分析看板 · 教学效果评估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474720"/>
            <a:ext cx="53035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474720"/>
            <a:ext cx="54864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5844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97316"/>
                </a:solidFill>
                <a:latin typeface="PingFang SC" panose="020B0400000000000000" charset="-122"/>
              </a:defRPr>
            </a:pPr>
            <a:r>
              <a:t>培训机构版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58444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按学员数定价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977640"/>
            <a:ext cx="4663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课程地图化工具 · 学员进度管理 · 招生转化提升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02920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单位经济模型 (B2C Pro)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394960"/>
            <a:ext cx="123444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ARPU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76072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¥239/年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20" y="5394960"/>
            <a:ext cx="123444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CAC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576072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&lt;¥30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0" y="5394960"/>
            <a:ext cx="123444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LTV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76072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~¥500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32720" y="5394960"/>
            <a:ext cx="1234440" cy="82296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2416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LTV/CAC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576072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&gt;16x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营销增长策略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校内裂变 + 内容获客 + 高校合作，三引擎驱动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引擎一：校内裂变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4747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组队邀请机制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邀请好友组队探索 奖励双方 Pro 体验周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34747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758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排行榜传播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周榜/月榜可一键 分享到朋友圈/校园群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34747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474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寝室渗透策略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7667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一人开通团队版 室友自动获得邀请码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6459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引擎二：内容获客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194560"/>
            <a:ext cx="34747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194560"/>
            <a:ext cx="54864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3042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知识地图海报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3347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为各专业生成探索率 地图长图，社媒传播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566160"/>
            <a:ext cx="34747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566160"/>
            <a:ext cx="54864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6758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「学长路线图」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0507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毕业学长分享自己的 探索路径引发讨论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937760"/>
            <a:ext cx="34747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4937760"/>
            <a:ext cx="54864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0474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短视频种草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7667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地图探索的酷炫动画 在抖音/B站天然吸睛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16459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引擎三：高校合作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2194560"/>
            <a:ext cx="34747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2194560"/>
            <a:ext cx="54864" cy="1188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3042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教师合作试点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63347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与课程教师合作 将图谱嵌入课程辅助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3566160"/>
            <a:ext cx="34747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0" y="3566160"/>
            <a:ext cx="54864" cy="1188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36758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学生社团联动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00507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与学习型社团合作 组织探索挑战赛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4937760"/>
            <a:ext cx="3474720" cy="1188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63840" y="4937760"/>
            <a:ext cx="54864" cy="1188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50474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创业大赛背书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37667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通过比赛获得 校方认可与资源支持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3000"/>
            </a:avLst>
          </a:prstGeom>
          <a:solidFill>
            <a:srgbClr val="0A0E1A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增长目标：6 个月内 → 校内 200 人测试  ·  12 个月 → 2,000 用户  ·  18 个月 → 破万 + 3 所高校合作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发展路线图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4 阶段，18 个月完成从 0 到 PMF 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10698480" cy="27432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19656" y="2871216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Phase 1  ·  2026 Q1-Q2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MVP 打磨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606040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615184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当前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2468880" cy="237744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· CS专业完整图谱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41648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· 核心迷雾机制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17136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校内200人测试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92624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收集反馈迭代</a:t>
            </a:r>
          </a:p>
        </p:txBody>
      </p:sp>
      <p:sp>
        <p:nvSpPr>
          <p:cNvPr id="17" name="Oval 16"/>
          <p:cNvSpPr/>
          <p:nvPr/>
        </p:nvSpPr>
        <p:spPr>
          <a:xfrm>
            <a:off x="4526280" y="2907792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Phase 2  ·  2026 Q3-Q4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2860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产品验证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3383280"/>
            <a:ext cx="2468880" cy="237744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35661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接入LLM智能辅导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4041648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Neo4j迁移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4517136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扩展3个专业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4992624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2,000活跃用户</a:t>
            </a:r>
          </a:p>
        </p:txBody>
      </p:sp>
      <p:sp>
        <p:nvSpPr>
          <p:cNvPr id="25" name="Oval 24"/>
          <p:cNvSpPr/>
          <p:nvPr/>
        </p:nvSpPr>
        <p:spPr>
          <a:xfrm>
            <a:off x="7196328" y="2907792"/>
            <a:ext cx="219456" cy="21945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1616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6B6D4"/>
                </a:solidFill>
                <a:latin typeface="PingFang SC" panose="020B0400000000000000" charset="-122"/>
              </a:defRPr>
            </a:pPr>
            <a:r>
              <a:t>Phase 3  ·  2027 Q1-Q2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22860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商业化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71616" y="3383280"/>
            <a:ext cx="2468880" cy="237744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5661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B2C付费上线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4041648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B2B高校试点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4517136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覆盖10+专业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992624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用户破万</a:t>
            </a:r>
          </a:p>
        </p:txBody>
      </p:sp>
      <p:sp>
        <p:nvSpPr>
          <p:cNvPr id="33" name="Oval 32"/>
          <p:cNvSpPr/>
          <p:nvPr/>
        </p:nvSpPr>
        <p:spPr>
          <a:xfrm>
            <a:off x="9866376" y="2907792"/>
            <a:ext cx="219456" cy="219456"/>
          </a:xfrm>
          <a:prstGeom prst="ellipse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1664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Phase 4  ·  2027 Q3+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1664" y="22860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规模扩展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41664" y="3383280"/>
            <a:ext cx="2468880" cy="237744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5661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多校推广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4041648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培训机构版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4544" y="4517136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跨校社交网络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4992624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· 寻求Pre-A轮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943600"/>
            <a:ext cx="10698480" cy="502920"/>
          </a:xfrm>
          <a:prstGeom prst="roundRect">
            <a:avLst>
              <a:gd name="adj" fmla="val 3000"/>
            </a:avLst>
          </a:prstGeom>
          <a:solidFill>
            <a:srgbClr val="0A0E1A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关键里程碑：Phase 2 结束时验证 PMF（月留存 &gt; 40%，NPS &gt; 50）→ 启动商业化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一支有技术深度和产品热情的学生创业团队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15/16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68880" cy="3474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2103120"/>
            <a:ext cx="822960" cy="822960"/>
          </a:xfrm>
          <a:prstGeom prst="ellipse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CEO / 产品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[姓名]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产品定义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商业策略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用户研究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468880" cy="3474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0" y="210312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546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CTO / 全栈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204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[姓名]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2336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系统架构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图谱算法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AI 集成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828800"/>
            <a:ext cx="2468880" cy="3474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12280" y="210312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设计 /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5204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[姓名]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02336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RPG 视觉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交互设计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游戏化体验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28800"/>
            <a:ext cx="2468880" cy="347472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64040" y="210312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1546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运营 / 增长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5204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[姓名]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02336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校园推广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社群运营</a:t>
            </a:r>
          </a:p>
          <a:p>
            <a:pPr algn="ctr">
              <a:lnSpc>
                <a:spcPts val="2080"/>
              </a:lnSpc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高校合作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团队优势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全栈技术能力 ·  用户即开发者（我们本身就是目标用户） ·  已完成 MVP 证明执行力  ·  对教育行业有热情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（请填入团队成员真实姓名、专业、核心经历）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我们的请求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Helvetica Neue" panose="02000503000000020004"/>
              </a:defRPr>
            </a:pPr>
            <a:r>
              <a:t>种子轮  ¥100 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出让 10% 股权  ·  估值 ¥1,000 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资金用途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468880" cy="15544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3B82F6"/>
                </a:solidFill>
                <a:latin typeface="PingFang SC" panose="020B0400000000000000" charset="-122"/>
              </a:defRPr>
            </a:pPr>
            <a: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产品研发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LLM接入 · 图谱扩展</a:t>
            </a:r>
          </a:p>
          <a:p>
            <a:pPr algn="ctr">
              <a:lnSpc>
                <a:spcPts val="1680"/>
              </a:lnSpc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性能优化 · 新功能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291840"/>
            <a:ext cx="2468880" cy="15544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8B5CF6"/>
                </a:solidFill>
                <a:latin typeface="PingFang SC" panose="020B0400000000000000" charset="-122"/>
              </a:defRPr>
            </a:pPr>
            <a: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40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运营推广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2062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校园推广 · 社群运营</a:t>
            </a:r>
          </a:p>
          <a:p>
            <a:pPr algn="ctr">
              <a:lnSpc>
                <a:spcPts val="1680"/>
              </a:lnSpc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内容制作 · 活动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291840"/>
            <a:ext cx="2468880" cy="15544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06B6D4"/>
                </a:solidFill>
                <a:latin typeface="PingFang SC" panose="020B0400000000000000" charset="-122"/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40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基础设施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云服务 · LLM API</a:t>
            </a:r>
          </a:p>
          <a:p>
            <a:pPr algn="ctr">
              <a:lnSpc>
                <a:spcPts val="1680"/>
              </a:lnSpc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图数据库 · CDN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291840"/>
            <a:ext cx="2468880" cy="1554480"/>
          </a:xfrm>
          <a:prstGeom prst="roundRect">
            <a:avLst>
              <a:gd name="adj" fmla="val 3000"/>
            </a:avLst>
          </a:prstGeom>
          <a:solidFill>
            <a:srgbClr val="111425"/>
          </a:solidFill>
          <a:ln w="12700">
            <a:solidFill>
              <a:srgbClr val="28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3832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10B981"/>
                </a:solidFill>
                <a:latin typeface="PingFang SC" panose="020B0400000000000000" charset="-122"/>
              </a:defRPr>
            </a:pPr>
            <a: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840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</a:defRPr>
            </a:pPr>
            <a:r>
              <a:t>团队建设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0624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核心招聘 · 培训</a:t>
            </a:r>
          </a:p>
          <a:p>
            <a:pPr algn="ctr">
              <a:lnSpc>
                <a:spcPts val="1680"/>
              </a:lnSpc>
              <a:defRPr sz="1200" b="0">
                <a:solidFill>
                  <a:srgbClr val="D0D0D8"/>
                </a:solidFill>
                <a:latin typeface="PingFang SC" panose="020B0400000000000000" charset="-122"/>
              </a:defRPr>
            </a:pPr>
            <a:r>
              <a:t>差旅 · 办公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212080"/>
            <a:ext cx="9418320" cy="18288"/>
          </a:xfrm>
          <a:prstGeom prst="rect">
            <a:avLst/>
          </a:prstGeom>
          <a:solidFill>
            <a:srgbClr val="F5C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5C818"/>
                </a:solidFill>
                <a:latin typeface="PingFang SC" panose="020B0400000000000000" charset="-122"/>
              </a:defRPr>
            </a:pPr>
            <a:r>
              <a:t>「 让每一位学生都拥有自己的知识大陆 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Helvetica Neue" panose="02000503000000020004"/>
              </a:defRPr>
            </a:pPr>
            <a:r>
              <a:t>TERRANOVA  ·  新大陆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联系方式：[请填写邮箱/微信]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07088"/>
                </a:solidFill>
                <a:latin typeface="PingFang SC" panose="020B0400000000000000" charset="-122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3957</Words>
  <Application>WPS 文字</Application>
  <PresentationFormat>On-screen Show (4:3)</PresentationFormat>
  <Paragraphs>817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Arial</vt:lpstr>
      <vt:lpstr>Helvetica Neue</vt:lpstr>
      <vt:lpstr>PingFang SC</vt:lpstr>
      <vt:lpstr>Georgia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张媛珍</cp:lastModifiedBy>
  <cp:revision>2</cp:revision>
  <dcterms:created xsi:type="dcterms:W3CDTF">2026-06-07T14:15:50Z</dcterms:created>
  <dcterms:modified xsi:type="dcterms:W3CDTF">2026-06-07T14:15:50Z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356D48E040B06377167D256A1800BF12_42</vt:lpwstr>
  </property>
  <property fmtid="{D5CDD505-2E9C-101B-9397-08002B2CF9AE}" pid="3" name="KSOProductBuildVer">
    <vt:lpwstr>2052-12.1.25895.25895</vt:lpwstr>
  </property>
</Properties>
</file>